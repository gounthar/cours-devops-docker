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slideLayouts/slideLayout4.xml" ContentType="application/vnd.openxmlformats-officedocument.presentationml.slideLayout+xml"/>
  <Override PartName="/ppt/theme/theme36.xml" ContentType="application/vnd.openxmlformats-officedocument.theme+xml"/>
  <Override PartName="/ppt/slideLayouts/slideLayout5.xml" ContentType="application/vnd.openxmlformats-officedocument.presentationml.slideLayout+xml"/>
  <Override PartName="/ppt/theme/theme37.xml" ContentType="application/vnd.openxmlformats-officedocument.theme+xml"/>
  <Override PartName="/ppt/theme/theme3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50" r:id="rId3"/>
    <p:sldMasterId id="2147483651" r:id="rId4"/>
    <p:sldMasterId id="2147483652" r:id="rId5"/>
    <p:sldMasterId id="2147483653" r:id="rId6"/>
    <p:sldMasterId id="2147483654" r:id="rId7"/>
    <p:sldMasterId id="2147483655" r:id="rId8"/>
    <p:sldMasterId id="2147483656" r:id="rId9"/>
    <p:sldMasterId id="2147483657" r:id="rId10"/>
    <p:sldMasterId id="2147483658" r:id="rId11"/>
    <p:sldMasterId id="2147483659" r:id="rId12"/>
    <p:sldMasterId id="2147483661" r:id="rId13"/>
    <p:sldMasterId id="2147483662" r:id="rId14"/>
    <p:sldMasterId id="2147483663" r:id="rId15"/>
    <p:sldMasterId id="2147483664" r:id="rId16"/>
    <p:sldMasterId id="2147483665" r:id="rId17"/>
    <p:sldMasterId id="2147483666" r:id="rId18"/>
    <p:sldMasterId id="2147483667" r:id="rId19"/>
    <p:sldMasterId id="2147483668" r:id="rId20"/>
    <p:sldMasterId id="2147483669" r:id="rId21"/>
    <p:sldMasterId id="2147483670" r:id="rId22"/>
    <p:sldMasterId id="2147483671" r:id="rId23"/>
    <p:sldMasterId id="2147483672" r:id="rId24"/>
    <p:sldMasterId id="2147483674" r:id="rId25"/>
    <p:sldMasterId id="2147483675" r:id="rId26"/>
    <p:sldMasterId id="2147483676" r:id="rId27"/>
    <p:sldMasterId id="2147483677" r:id="rId28"/>
    <p:sldMasterId id="2147483678" r:id="rId29"/>
    <p:sldMasterId id="2147483679" r:id="rId30"/>
    <p:sldMasterId id="2147483680" r:id="rId31"/>
    <p:sldMasterId id="2147483681" r:id="rId32"/>
    <p:sldMasterId id="2147483682" r:id="rId33"/>
    <p:sldMasterId id="2147483683" r:id="rId34"/>
    <p:sldMasterId id="2147483684" r:id="rId35"/>
    <p:sldMasterId id="2147483685" r:id="rId36"/>
    <p:sldMasterId id="2147483687" r:id="rId37"/>
  </p:sldMasterIdLst>
  <p:notesMasterIdLst>
    <p:notesMasterId r:id="rId67"/>
  </p:notesMasterIdLst>
  <p:sldIdLst>
    <p:sldId id="256" r:id="rId38"/>
    <p:sldId id="257" r:id="rId39"/>
    <p:sldId id="258" r:id="rId40"/>
    <p:sldId id="259" r:id="rId41"/>
    <p:sldId id="260" r:id="rId42"/>
    <p:sldId id="275" r:id="rId43"/>
    <p:sldId id="261" r:id="rId44"/>
    <p:sldId id="276" r:id="rId45"/>
    <p:sldId id="277" r:id="rId46"/>
    <p:sldId id="278" r:id="rId47"/>
    <p:sldId id="279" r:id="rId48"/>
    <p:sldId id="280" r:id="rId49"/>
    <p:sldId id="281" r:id="rId50"/>
    <p:sldId id="282" r:id="rId51"/>
    <p:sldId id="262" r:id="rId52"/>
    <p:sldId id="283" r:id="rId53"/>
    <p:sldId id="284" r:id="rId54"/>
    <p:sldId id="285" r:id="rId55"/>
    <p:sldId id="286" r:id="rId56"/>
    <p:sldId id="287" r:id="rId57"/>
    <p:sldId id="266" r:id="rId58"/>
    <p:sldId id="267" r:id="rId59"/>
    <p:sldId id="268" r:id="rId60"/>
    <p:sldId id="269" r:id="rId61"/>
    <p:sldId id="270" r:id="rId62"/>
    <p:sldId id="271" r:id="rId63"/>
    <p:sldId id="272" r:id="rId64"/>
    <p:sldId id="273" r:id="rId65"/>
    <p:sldId id="274" r:id="rId66"/>
  </p:sldIdLst>
  <p:sldSz cx="9144000" cy="5143500" type="screen16x9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02" d="100"/>
          <a:sy n="202" d="100"/>
        </p:scale>
        <p:origin x="316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Master" Target="slideMasters/slideMaster26.xml"/><Relationship Id="rId21" Type="http://schemas.openxmlformats.org/officeDocument/2006/relationships/slideMaster" Target="slideMasters/slideMaster21.xml"/><Relationship Id="rId42" Type="http://schemas.openxmlformats.org/officeDocument/2006/relationships/slide" Target="slides/slide5.xml"/><Relationship Id="rId47" Type="http://schemas.openxmlformats.org/officeDocument/2006/relationships/slide" Target="slides/slide10.xml"/><Relationship Id="rId63" Type="http://schemas.openxmlformats.org/officeDocument/2006/relationships/slide" Target="slides/slide26.xml"/><Relationship Id="rId68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Master" Target="slideMasters/slideMaster29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Master" Target="slideMasters/slideMaster32.xml"/><Relationship Id="rId37" Type="http://schemas.openxmlformats.org/officeDocument/2006/relationships/slideMaster" Target="slideMasters/slideMaster37.xml"/><Relationship Id="rId40" Type="http://schemas.openxmlformats.org/officeDocument/2006/relationships/slide" Target="slides/slide3.xml"/><Relationship Id="rId45" Type="http://schemas.openxmlformats.org/officeDocument/2006/relationships/slide" Target="slides/slide8.xml"/><Relationship Id="rId53" Type="http://schemas.openxmlformats.org/officeDocument/2006/relationships/slide" Target="slides/slide16.xml"/><Relationship Id="rId58" Type="http://schemas.openxmlformats.org/officeDocument/2006/relationships/slide" Target="slides/slide21.xml"/><Relationship Id="rId66" Type="http://schemas.openxmlformats.org/officeDocument/2006/relationships/slide" Target="slides/slide29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24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43" Type="http://schemas.openxmlformats.org/officeDocument/2006/relationships/slide" Target="slides/slide6.xml"/><Relationship Id="rId48" Type="http://schemas.openxmlformats.org/officeDocument/2006/relationships/slide" Target="slides/slide11.xml"/><Relationship Id="rId56" Type="http://schemas.openxmlformats.org/officeDocument/2006/relationships/slide" Target="slides/slide19.xml"/><Relationship Id="rId64" Type="http://schemas.openxmlformats.org/officeDocument/2006/relationships/slide" Target="slides/slide27.xml"/><Relationship Id="rId69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Master" Target="slideMasters/slideMaster33.xml"/><Relationship Id="rId38" Type="http://schemas.openxmlformats.org/officeDocument/2006/relationships/slide" Target="slides/slide1.xml"/><Relationship Id="rId46" Type="http://schemas.openxmlformats.org/officeDocument/2006/relationships/slide" Target="slides/slide9.xml"/><Relationship Id="rId59" Type="http://schemas.openxmlformats.org/officeDocument/2006/relationships/slide" Target="slides/slide22.xml"/><Relationship Id="rId67" Type="http://schemas.openxmlformats.org/officeDocument/2006/relationships/notesMaster" Target="notesMasters/notesMaster1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4.xml"/><Relationship Id="rId54" Type="http://schemas.openxmlformats.org/officeDocument/2006/relationships/slide" Target="slides/slide17.xml"/><Relationship Id="rId62" Type="http://schemas.openxmlformats.org/officeDocument/2006/relationships/slide" Target="slides/slide25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Master" Target="slideMasters/slideMaster36.xml"/><Relationship Id="rId49" Type="http://schemas.openxmlformats.org/officeDocument/2006/relationships/slide" Target="slides/slide12.xml"/><Relationship Id="rId57" Type="http://schemas.openxmlformats.org/officeDocument/2006/relationships/slide" Target="slides/slide20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44" Type="http://schemas.openxmlformats.org/officeDocument/2006/relationships/slide" Target="slides/slide7.xml"/><Relationship Id="rId52" Type="http://schemas.openxmlformats.org/officeDocument/2006/relationships/slide" Target="slides/slide15.xml"/><Relationship Id="rId60" Type="http://schemas.openxmlformats.org/officeDocument/2006/relationships/slide" Target="slides/slide23.xml"/><Relationship Id="rId65" Type="http://schemas.openxmlformats.org/officeDocument/2006/relationships/slide" Target="slides/slide2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" Target="slides/slide2.xml"/><Relationship Id="rId34" Type="http://schemas.openxmlformats.org/officeDocument/2006/relationships/slideMaster" Target="slideMasters/slideMaster34.xml"/><Relationship Id="rId50" Type="http://schemas.openxmlformats.org/officeDocument/2006/relationships/slide" Target="slides/slide13.xml"/><Relationship Id="rId55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déplacer la diapo</a:t>
            </a:r>
          </a:p>
        </p:txBody>
      </p:sp>
      <p:sp>
        <p:nvSpPr>
          <p:cNvPr id="72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</a:p>
        </p:txBody>
      </p:sp>
      <p:sp>
        <p:nvSpPr>
          <p:cNvPr id="72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&lt;en-tête&gt;</a:t>
            </a:r>
          </a:p>
        </p:txBody>
      </p:sp>
      <p:sp>
        <p:nvSpPr>
          <p:cNvPr id="729" name="PlaceHolder 4"/>
          <p:cNvSpPr>
            <a:spLocks noGrp="1"/>
          </p:cNvSpPr>
          <p:nvPr>
            <p:ph type="dt" idx="76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</a:p>
        </p:txBody>
      </p:sp>
      <p:sp>
        <p:nvSpPr>
          <p:cNvPr id="730" name="PlaceHolder 5"/>
          <p:cNvSpPr>
            <a:spLocks noGrp="1"/>
          </p:cNvSpPr>
          <p:nvPr>
            <p:ph type="ftr" idx="77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</a:p>
        </p:txBody>
      </p:sp>
      <p:sp>
        <p:nvSpPr>
          <p:cNvPr id="731" name="PlaceHolder 6"/>
          <p:cNvSpPr>
            <a:spLocks noGrp="1"/>
          </p:cNvSpPr>
          <p:nvPr>
            <p:ph type="sldNum" idx="78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E22BBD8-C64D-4835-8219-DD54D889FD02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73120" y="1336680"/>
            <a:ext cx="6411960" cy="3606840"/>
          </a:xfrm>
          <a:prstGeom prst="rect">
            <a:avLst/>
          </a:prstGeom>
          <a:ln w="0">
            <a:noFill/>
          </a:ln>
        </p:spPr>
      </p:sp>
      <p:sp>
        <p:nvSpPr>
          <p:cNvPr id="783" name="PlaceHolder 2"/>
          <p:cNvSpPr>
            <a:spLocks noGrp="1"/>
          </p:cNvSpPr>
          <p:nvPr>
            <p:ph type="body"/>
          </p:nvPr>
        </p:nvSpPr>
        <p:spPr>
          <a:xfrm>
            <a:off x="755640" y="5145120"/>
            <a:ext cx="6046920" cy="420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PlaceHolder 3"/>
          <p:cNvSpPr>
            <a:spLocks noGrp="1"/>
          </p:cNvSpPr>
          <p:nvPr>
            <p:ph type="sldNum" idx="79"/>
          </p:nvPr>
        </p:nvSpPr>
        <p:spPr>
          <a:xfrm>
            <a:off x="4281480" y="10155240"/>
            <a:ext cx="3275280" cy="534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AEA99EC-71B3-4308-8573-CC7CA734E98C}" type="slidenum"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6360" cy="29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F53E4C2D-623B-43F4-A292-70FD351ACB0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tandar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1"/>
          </p:nvPr>
        </p:nvSpPr>
        <p:spPr/>
        <p:txBody>
          <a:bodyPr/>
          <a:lstStyle/>
          <a:p>
            <a:fld id="{5CD46D64-92FA-498E-B741-020AAD7D48B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7515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tandard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tandard 4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4"/>
          </p:nvPr>
        </p:nvSpPr>
        <p:spPr/>
        <p:txBody>
          <a:bodyPr/>
          <a:lstStyle/>
          <a:p>
            <a:fld id="{D598632C-FCB6-4805-8C91-D67D816865F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.xml"/></Relationships>
</file>

<file path=ppt/slideMasters/_rels/slideMaster13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slideMasters/_rels/slideMaster15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slideMasters/_rels/slideMaster17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slideMasters/_rels/slideMaster18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slideMasters/_rels/slideMaster19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slideMasters/_rels/slideMaster20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slideMasters/_rels/slideMaster2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1.xml"/></Relationships>
</file>

<file path=ppt/slideMasters/_rels/slideMaster2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2.xml"/></Relationships>
</file>

<file path=ppt/slideMasters/_rels/slideMaster23.xml.rels><?xml version="1.0" encoding="UTF-8" standalone="yes"?>
<Relationships xmlns="http://schemas.openxmlformats.org/package/2006/relationships"><Relationship Id="rId1" Type="http://schemas.openxmlformats.org/officeDocument/2006/relationships/theme" Target="../theme/theme23.xml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theme" Target="../theme/theme2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25.xml.rels><?xml version="1.0" encoding="UTF-8" standalone="yes"?>
<Relationships xmlns="http://schemas.openxmlformats.org/package/2006/relationships"><Relationship Id="rId1" Type="http://schemas.openxmlformats.org/officeDocument/2006/relationships/theme" Target="../theme/theme25.xml"/></Relationships>
</file>

<file path=ppt/slideMasters/_rels/slideMaster26.xml.rels><?xml version="1.0" encoding="UTF-8" standalone="yes"?>
<Relationships xmlns="http://schemas.openxmlformats.org/package/2006/relationships"><Relationship Id="rId1" Type="http://schemas.openxmlformats.org/officeDocument/2006/relationships/theme" Target="../theme/theme26.xml"/></Relationships>
</file>

<file path=ppt/slideMasters/_rels/slideMaster27.xml.rels><?xml version="1.0" encoding="UTF-8" standalone="yes"?>
<Relationships xmlns="http://schemas.openxmlformats.org/package/2006/relationships"><Relationship Id="rId1" Type="http://schemas.openxmlformats.org/officeDocument/2006/relationships/theme" Target="../theme/theme27.xml"/></Relationships>
</file>

<file path=ppt/slideMasters/_rels/slideMaster28.xml.rels><?xml version="1.0" encoding="UTF-8" standalone="yes"?>
<Relationships xmlns="http://schemas.openxmlformats.org/package/2006/relationships"><Relationship Id="rId1" Type="http://schemas.openxmlformats.org/officeDocument/2006/relationships/theme" Target="../theme/theme28.xml"/></Relationships>
</file>

<file path=ppt/slideMasters/_rels/slideMaster29.xml.rels><?xml version="1.0" encoding="UTF-8" standalone="yes"?>
<Relationships xmlns="http://schemas.openxmlformats.org/package/2006/relationships"><Relationship Id="rId1" Type="http://schemas.openxmlformats.org/officeDocument/2006/relationships/theme" Target="../theme/theme29.xml"/></Relationships>
</file>

<file path=ppt/slideMasters/_rels/slideMaster30.xml.rels><?xml version="1.0" encoding="UTF-8" standalone="yes"?>
<Relationships xmlns="http://schemas.openxmlformats.org/package/2006/relationships"><Relationship Id="rId1" Type="http://schemas.openxmlformats.org/officeDocument/2006/relationships/theme" Target="../theme/theme30.xml"/></Relationships>
</file>

<file path=ppt/slideMasters/_rels/slideMaster3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1.xml"/></Relationships>
</file>

<file path=ppt/slideMasters/_rels/slideMaster32.xml.rels><?xml version="1.0" encoding="UTF-8" standalone="yes"?>
<Relationships xmlns="http://schemas.openxmlformats.org/package/2006/relationships"><Relationship Id="rId1" Type="http://schemas.openxmlformats.org/officeDocument/2006/relationships/theme" Target="../theme/theme32.xml"/></Relationships>
</file>

<file path=ppt/slideMasters/_rels/slideMaster3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3.xml"/></Relationships>
</file>

<file path=ppt/slideMasters/_rels/slideMaster34.xml.rels><?xml version="1.0" encoding="UTF-8" standalone="yes"?>
<Relationships xmlns="http://schemas.openxmlformats.org/package/2006/relationships"><Relationship Id="rId1" Type="http://schemas.openxmlformats.org/officeDocument/2006/relationships/theme" Target="../theme/theme34.xml"/></Relationships>
</file>

<file path=ppt/slideMasters/_rels/slideMaster35.xml.rels><?xml version="1.0" encoding="UTF-8" standalone="yes"?>
<Relationships xmlns="http://schemas.openxmlformats.org/package/2006/relationships"><Relationship Id="rId1" Type="http://schemas.openxmlformats.org/officeDocument/2006/relationships/theme" Target="../theme/theme35.xml"/></Relationships>
</file>

<file path=ppt/slideMasters/_rels/slideMaster36.xml.rels><?xml version="1.0" encoding="UTF-8" standalone="yes"?>
<Relationships xmlns="http://schemas.openxmlformats.org/package/2006/relationships"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4.xml"/></Relationships>
</file>

<file path=ppt/slideMasters/_rels/slideMaster37.xml.rels><?xml version="1.0" encoding="UTF-8" standalone="yes"?>
<Relationships xmlns="http://schemas.openxmlformats.org/package/2006/relationships"><Relationship Id="rId2" Type="http://schemas.openxmlformats.org/officeDocument/2006/relationships/theme" Target="../theme/theme37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27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11" name="Group 15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12" name="Freeform 14"/>
            <p:cNvSpPr/>
            <p:nvPr/>
          </p:nvSpPr>
          <p:spPr>
            <a:xfrm>
              <a:off x="0" y="-5760"/>
              <a:ext cx="641160" cy="4267080"/>
            </a:xfrm>
            <a:custGeom>
              <a:avLst/>
              <a:gdLst>
                <a:gd name="textAreaLeft" fmla="*/ 0 w 641160"/>
                <a:gd name="textAreaRight" fmla="*/ 647280 w 641160"/>
                <a:gd name="textAreaTop" fmla="*/ 0 h 4267080"/>
                <a:gd name="textAreaBottom" fmla="*/ 4273200 h 426708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" name="Straight Connector 18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" name="Straight Connector 19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" name="Isosceles Triangle 22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" name="Isosceles Triangle 26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ftr" idx="1"/>
          </p:nvPr>
        </p:nvSpPr>
        <p:spPr>
          <a:xfrm>
            <a:off x="507960" y="4530960"/>
            <a:ext cx="47167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rPr>
              <a:t>&lt;pied de page&gt;</a:t>
            </a:r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sldNum" idx="2"/>
          </p:nvPr>
        </p:nvSpPr>
        <p:spPr>
          <a:xfrm>
            <a:off x="6442920" y="4530960"/>
            <a:ext cx="50616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BCC8F99-4D0D-4556-A274-ECE717B5DA01}" type="slidenum">
              <a: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‹#›</a:t>
            </a:fld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3"/>
          </p:nvPr>
        </p:nvSpPr>
        <p:spPr>
          <a:xfrm>
            <a:off x="5403960" y="4530960"/>
            <a:ext cx="6775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27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8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0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1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2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3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4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5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6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37" name="Group 15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38" name="Freeform 14"/>
            <p:cNvSpPr/>
            <p:nvPr/>
          </p:nvSpPr>
          <p:spPr>
            <a:xfrm>
              <a:off x="0" y="-5760"/>
              <a:ext cx="641160" cy="4267080"/>
            </a:xfrm>
            <a:custGeom>
              <a:avLst/>
              <a:gdLst>
                <a:gd name="textAreaLeft" fmla="*/ 0 w 641160"/>
                <a:gd name="textAreaRight" fmla="*/ 647280 w 641160"/>
                <a:gd name="textAreaTop" fmla="*/ 0 h 4267080"/>
                <a:gd name="textAreaBottom" fmla="*/ 4273200 h 426708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9" name="Straight Connector 18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0" name="Straight Connector 19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1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2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3" name="Isosceles Triangle 22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4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5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6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7" name="Isosceles Triangle 26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ftr" idx="4"/>
          </p:nvPr>
        </p:nvSpPr>
        <p:spPr>
          <a:xfrm>
            <a:off x="507960" y="4530960"/>
            <a:ext cx="47167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rPr>
              <a:t>&lt;pied de page&gt;</a:t>
            </a:r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sldNum" idx="5"/>
          </p:nvPr>
        </p:nvSpPr>
        <p:spPr>
          <a:xfrm>
            <a:off x="6442920" y="4530960"/>
            <a:ext cx="50616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7A1F660-7A5D-4246-9254-169B299B7062}" type="slidenum">
              <a: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‹#›</a:t>
            </a:fld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6"/>
          </p:nvPr>
        </p:nvSpPr>
        <p:spPr>
          <a:xfrm>
            <a:off x="5403960" y="4530960"/>
            <a:ext cx="6775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53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4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5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6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7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8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9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0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1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2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63" name="Group 15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64" name="Freeform 14"/>
            <p:cNvSpPr/>
            <p:nvPr/>
          </p:nvSpPr>
          <p:spPr>
            <a:xfrm>
              <a:off x="0" y="-5760"/>
              <a:ext cx="641160" cy="4267080"/>
            </a:xfrm>
            <a:custGeom>
              <a:avLst/>
              <a:gdLst>
                <a:gd name="textAreaLeft" fmla="*/ 0 w 641160"/>
                <a:gd name="textAreaRight" fmla="*/ 647280 w 641160"/>
                <a:gd name="textAreaTop" fmla="*/ 0 h 4267080"/>
                <a:gd name="textAreaBottom" fmla="*/ 4273200 h 426708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5" name="Straight Connector 18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6" name="Straight Connector 19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7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8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9" name="Isosceles Triangle 22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0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1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2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3" name="Isosceles Triangle 26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29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ftr" idx="7"/>
          </p:nvPr>
        </p:nvSpPr>
        <p:spPr>
          <a:xfrm>
            <a:off x="507960" y="4530960"/>
            <a:ext cx="47167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rPr>
              <a:t>&lt;pied de page&gt;</a:t>
            </a:r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sldNum" idx="8"/>
          </p:nvPr>
        </p:nvSpPr>
        <p:spPr>
          <a:xfrm>
            <a:off x="6442920" y="4530960"/>
            <a:ext cx="50616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AA0D986-13A5-4B1E-8C1D-157FB7D38919}" type="slidenum">
              <a: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‹#›</a:t>
            </a:fld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dt" idx="9"/>
          </p:nvPr>
        </p:nvSpPr>
        <p:spPr>
          <a:xfrm>
            <a:off x="5403960" y="4530960"/>
            <a:ext cx="6775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80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1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2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3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4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5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6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7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8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9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90" name="Group 15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91" name="Freeform 14"/>
            <p:cNvSpPr/>
            <p:nvPr/>
          </p:nvSpPr>
          <p:spPr>
            <a:xfrm>
              <a:off x="0" y="-5760"/>
              <a:ext cx="641160" cy="4267080"/>
            </a:xfrm>
            <a:custGeom>
              <a:avLst/>
              <a:gdLst>
                <a:gd name="textAreaLeft" fmla="*/ 0 w 641160"/>
                <a:gd name="textAreaRight" fmla="*/ 647280 w 641160"/>
                <a:gd name="textAreaTop" fmla="*/ 0 h 4267080"/>
                <a:gd name="textAreaBottom" fmla="*/ 4273200 h 426708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2" name="Straight Connector 18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3" name="Straight Connector 19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4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5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6" name="Isosceles Triangle 22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7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8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9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0" name="Isosceles Triangle 26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ftr" idx="10"/>
          </p:nvPr>
        </p:nvSpPr>
        <p:spPr>
          <a:xfrm>
            <a:off x="507960" y="4530960"/>
            <a:ext cx="47167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rPr>
              <a:t>&lt;pied de page&gt;</a:t>
            </a:r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 type="sldNum" idx="11"/>
          </p:nvPr>
        </p:nvSpPr>
        <p:spPr>
          <a:xfrm>
            <a:off x="6442920" y="4530960"/>
            <a:ext cx="50616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19B3EE5-A139-41DE-BB0F-50CAD374BD7B}" type="slidenum">
              <a: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‹#›</a:t>
            </a:fld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6"/>
          <p:cNvSpPr>
            <a:spLocks noGrp="1"/>
          </p:cNvSpPr>
          <p:nvPr>
            <p:ph type="dt" idx="12"/>
          </p:nvPr>
        </p:nvSpPr>
        <p:spPr>
          <a:xfrm>
            <a:off x="5403960" y="4530960"/>
            <a:ext cx="6775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108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9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0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1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2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3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4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5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6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7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118" name="Group 15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119" name="Freeform 14"/>
            <p:cNvSpPr/>
            <p:nvPr/>
          </p:nvSpPr>
          <p:spPr>
            <a:xfrm>
              <a:off x="0" y="-5760"/>
              <a:ext cx="641160" cy="4267080"/>
            </a:xfrm>
            <a:custGeom>
              <a:avLst/>
              <a:gdLst>
                <a:gd name="textAreaLeft" fmla="*/ 0 w 641160"/>
                <a:gd name="textAreaRight" fmla="*/ 647280 w 641160"/>
                <a:gd name="textAreaTop" fmla="*/ 0 h 4267080"/>
                <a:gd name="textAreaBottom" fmla="*/ 4273200 h 426708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0" name="Straight Connector 18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1" name="Straight Connector 19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2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3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4" name="Isosceles Triangle 22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5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6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7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8" name="Isosceles Triangle 26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129" name="PlaceHolder 1"/>
          <p:cNvSpPr>
            <a:spLocks noGrp="1"/>
          </p:cNvSpPr>
          <p:nvPr>
            <p:ph type="ftr" idx="13"/>
          </p:nvPr>
        </p:nvSpPr>
        <p:spPr>
          <a:xfrm>
            <a:off x="507960" y="4530960"/>
            <a:ext cx="47167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rPr>
              <a:t>&lt;pied de page&gt;</a:t>
            </a:r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sldNum" idx="14"/>
          </p:nvPr>
        </p:nvSpPr>
        <p:spPr>
          <a:xfrm>
            <a:off x="6442920" y="4530960"/>
            <a:ext cx="50616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C26131A-A1D3-49F7-8B38-06AB41CA9909}" type="slidenum">
              <a: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‹#›</a:t>
            </a:fld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dt" idx="15"/>
          </p:nvPr>
        </p:nvSpPr>
        <p:spPr>
          <a:xfrm>
            <a:off x="5403960" y="4530960"/>
            <a:ext cx="6775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133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4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5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6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7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8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9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0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1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2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143" name="Group 15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144" name="Freeform 14"/>
            <p:cNvSpPr/>
            <p:nvPr/>
          </p:nvSpPr>
          <p:spPr>
            <a:xfrm>
              <a:off x="0" y="-5760"/>
              <a:ext cx="641160" cy="4267080"/>
            </a:xfrm>
            <a:custGeom>
              <a:avLst/>
              <a:gdLst>
                <a:gd name="textAreaLeft" fmla="*/ 0 w 641160"/>
                <a:gd name="textAreaRight" fmla="*/ 647280 w 641160"/>
                <a:gd name="textAreaTop" fmla="*/ 0 h 4267080"/>
                <a:gd name="textAreaBottom" fmla="*/ 4273200 h 426708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5" name="Straight Connector 18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6" name="Straight Connector 19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7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8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9" name="Isosceles Triangle 22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0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1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2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3" name="Isosceles Triangle 26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 type="ftr" idx="16"/>
          </p:nvPr>
        </p:nvSpPr>
        <p:spPr>
          <a:xfrm>
            <a:off x="507960" y="4530960"/>
            <a:ext cx="47167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rPr>
              <a:t>&lt;pied de page&gt;</a:t>
            </a:r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PlaceHolder 6"/>
          <p:cNvSpPr>
            <a:spLocks noGrp="1"/>
          </p:cNvSpPr>
          <p:nvPr>
            <p:ph type="sldNum" idx="17"/>
          </p:nvPr>
        </p:nvSpPr>
        <p:spPr>
          <a:xfrm>
            <a:off x="6442920" y="4530960"/>
            <a:ext cx="50616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E2C03B6-670D-4269-A094-46E1E9CBF9B6}" type="slidenum">
              <a: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‹#›</a:t>
            </a:fld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PlaceHolder 7"/>
          <p:cNvSpPr>
            <a:spLocks noGrp="1"/>
          </p:cNvSpPr>
          <p:nvPr>
            <p:ph type="dt" idx="18"/>
          </p:nvPr>
        </p:nvSpPr>
        <p:spPr>
          <a:xfrm>
            <a:off x="5403960" y="4530960"/>
            <a:ext cx="6775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162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3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4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5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6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7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8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9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0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1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172" name="Group 15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173" name="Freeform 14"/>
            <p:cNvSpPr/>
            <p:nvPr/>
          </p:nvSpPr>
          <p:spPr>
            <a:xfrm>
              <a:off x="0" y="-5760"/>
              <a:ext cx="641160" cy="4267080"/>
            </a:xfrm>
            <a:custGeom>
              <a:avLst/>
              <a:gdLst>
                <a:gd name="textAreaLeft" fmla="*/ 0 w 641160"/>
                <a:gd name="textAreaRight" fmla="*/ 647280 w 641160"/>
                <a:gd name="textAreaTop" fmla="*/ 0 h 4267080"/>
                <a:gd name="textAreaBottom" fmla="*/ 4273200 h 426708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4" name="Straight Connector 18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5" name="Straight Connector 19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6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7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8" name="Isosceles Triangle 22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9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0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1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2" name="Isosceles Triangle 26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ftr" idx="19"/>
          </p:nvPr>
        </p:nvSpPr>
        <p:spPr>
          <a:xfrm>
            <a:off x="507960" y="4530960"/>
            <a:ext cx="47167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rPr>
              <a:t>&lt;pied de page&gt;</a:t>
            </a:r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PlaceHolder 6"/>
          <p:cNvSpPr>
            <a:spLocks noGrp="1"/>
          </p:cNvSpPr>
          <p:nvPr>
            <p:ph type="sldNum" idx="20"/>
          </p:nvPr>
        </p:nvSpPr>
        <p:spPr>
          <a:xfrm>
            <a:off x="6442920" y="4530960"/>
            <a:ext cx="50616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B0B9823-6BF9-476C-9C98-5DE0906098F3}" type="slidenum">
              <a: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‹#›</a:t>
            </a:fld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PlaceHolder 7"/>
          <p:cNvSpPr>
            <a:spLocks noGrp="1"/>
          </p:cNvSpPr>
          <p:nvPr>
            <p:ph type="dt" idx="21"/>
          </p:nvPr>
        </p:nvSpPr>
        <p:spPr>
          <a:xfrm>
            <a:off x="5403960" y="4530960"/>
            <a:ext cx="6775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191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2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3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4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5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6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7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8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9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0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201" name="Group 15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202" name="Freeform 14"/>
            <p:cNvSpPr/>
            <p:nvPr/>
          </p:nvSpPr>
          <p:spPr>
            <a:xfrm>
              <a:off x="0" y="-5760"/>
              <a:ext cx="641160" cy="4267080"/>
            </a:xfrm>
            <a:custGeom>
              <a:avLst/>
              <a:gdLst>
                <a:gd name="textAreaLeft" fmla="*/ 0 w 641160"/>
                <a:gd name="textAreaRight" fmla="*/ 647280 w 641160"/>
                <a:gd name="textAreaTop" fmla="*/ 0 h 4267080"/>
                <a:gd name="textAreaBottom" fmla="*/ 4273200 h 426708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3" name="Straight Connector 18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4" name="Straight Connector 19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5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6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7" name="Isosceles Triangle 22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8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9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0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1" name="Isosceles Triangle 26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5"/>
          <p:cNvSpPr>
            <a:spLocks noGrp="1"/>
          </p:cNvSpPr>
          <p:nvPr>
            <p:ph type="ftr" idx="22"/>
          </p:nvPr>
        </p:nvSpPr>
        <p:spPr>
          <a:xfrm>
            <a:off x="507960" y="4530960"/>
            <a:ext cx="47167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rPr>
              <a:t>&lt;pied de page&gt;</a:t>
            </a:r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PlaceHolder 6"/>
          <p:cNvSpPr>
            <a:spLocks noGrp="1"/>
          </p:cNvSpPr>
          <p:nvPr>
            <p:ph type="sldNum" idx="23"/>
          </p:nvPr>
        </p:nvSpPr>
        <p:spPr>
          <a:xfrm>
            <a:off x="6442920" y="4530960"/>
            <a:ext cx="50616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0477F5F-7B3A-4BCC-94D4-75B06760D5F5}" type="slidenum">
              <a: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‹#›</a:t>
            </a:fld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PlaceHolder 7"/>
          <p:cNvSpPr>
            <a:spLocks noGrp="1"/>
          </p:cNvSpPr>
          <p:nvPr>
            <p:ph type="dt" idx="24"/>
          </p:nvPr>
        </p:nvSpPr>
        <p:spPr>
          <a:xfrm>
            <a:off x="5403960" y="4530960"/>
            <a:ext cx="6775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220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1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2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3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4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5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6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7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8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9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230" name="Group 15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231" name="Freeform 14"/>
            <p:cNvSpPr/>
            <p:nvPr/>
          </p:nvSpPr>
          <p:spPr>
            <a:xfrm>
              <a:off x="0" y="-5760"/>
              <a:ext cx="641160" cy="4267080"/>
            </a:xfrm>
            <a:custGeom>
              <a:avLst/>
              <a:gdLst>
                <a:gd name="textAreaLeft" fmla="*/ 0 w 641160"/>
                <a:gd name="textAreaRight" fmla="*/ 647280 w 641160"/>
                <a:gd name="textAreaTop" fmla="*/ 0 h 4267080"/>
                <a:gd name="textAreaBottom" fmla="*/ 4273200 h 426708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32" name="Straight Connector 18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33" name="Straight Connector 19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34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35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36" name="Isosceles Triangle 22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37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38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39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40" name="Isosceles Triangle 26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4"/>
          <p:cNvSpPr>
            <a:spLocks noGrp="1"/>
          </p:cNvSpPr>
          <p:nvPr>
            <p:ph type="ftr" idx="25"/>
          </p:nvPr>
        </p:nvSpPr>
        <p:spPr>
          <a:xfrm>
            <a:off x="507960" y="4530960"/>
            <a:ext cx="47167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rPr>
              <a:t>&lt;pied de page&gt;</a:t>
            </a:r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PlaceHolder 5"/>
          <p:cNvSpPr>
            <a:spLocks noGrp="1"/>
          </p:cNvSpPr>
          <p:nvPr>
            <p:ph type="sldNum" idx="26"/>
          </p:nvPr>
        </p:nvSpPr>
        <p:spPr>
          <a:xfrm>
            <a:off x="6442920" y="4530960"/>
            <a:ext cx="50616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95A74AB-1EDE-4223-876F-898F1892564E}" type="slidenum">
              <a: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‹#›</a:t>
            </a:fld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PlaceHolder 6"/>
          <p:cNvSpPr>
            <a:spLocks noGrp="1"/>
          </p:cNvSpPr>
          <p:nvPr>
            <p:ph type="dt" idx="27"/>
          </p:nvPr>
        </p:nvSpPr>
        <p:spPr>
          <a:xfrm>
            <a:off x="5403960" y="4530960"/>
            <a:ext cx="6775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248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49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50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51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52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53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54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55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56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57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258" name="Group 15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259" name="Freeform 14"/>
            <p:cNvSpPr/>
            <p:nvPr/>
          </p:nvSpPr>
          <p:spPr>
            <a:xfrm>
              <a:off x="0" y="-5760"/>
              <a:ext cx="641160" cy="4267080"/>
            </a:xfrm>
            <a:custGeom>
              <a:avLst/>
              <a:gdLst>
                <a:gd name="textAreaLeft" fmla="*/ 0 w 641160"/>
                <a:gd name="textAreaRight" fmla="*/ 647280 w 641160"/>
                <a:gd name="textAreaTop" fmla="*/ 0 h 4267080"/>
                <a:gd name="textAreaBottom" fmla="*/ 4273200 h 426708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60" name="Straight Connector 18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61" name="Straight Connector 19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62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63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64" name="Isosceles Triangle 22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65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66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67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68" name="Isosceles Triangle 26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6"/>
          <p:cNvSpPr>
            <a:spLocks noGrp="1"/>
          </p:cNvSpPr>
          <p:nvPr>
            <p:ph type="ftr" idx="28"/>
          </p:nvPr>
        </p:nvSpPr>
        <p:spPr>
          <a:xfrm>
            <a:off x="507960" y="4530960"/>
            <a:ext cx="47167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rPr>
              <a:t>&lt;pied de page&gt;</a:t>
            </a:r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PlaceHolder 7"/>
          <p:cNvSpPr>
            <a:spLocks noGrp="1"/>
          </p:cNvSpPr>
          <p:nvPr>
            <p:ph type="sldNum" idx="29"/>
          </p:nvPr>
        </p:nvSpPr>
        <p:spPr>
          <a:xfrm>
            <a:off x="6442920" y="4530960"/>
            <a:ext cx="50616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7665390-F149-4419-AC4B-6EF21CD7CAB6}" type="slidenum">
              <a: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‹#›</a:t>
            </a:fld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PlaceHolder 8"/>
          <p:cNvSpPr>
            <a:spLocks noGrp="1"/>
          </p:cNvSpPr>
          <p:nvPr>
            <p:ph type="dt" idx="30"/>
          </p:nvPr>
        </p:nvSpPr>
        <p:spPr>
          <a:xfrm>
            <a:off x="5403960" y="4530960"/>
            <a:ext cx="6775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278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79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80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81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82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83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84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85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86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87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288" name="Group 15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289" name="Freeform 14"/>
            <p:cNvSpPr/>
            <p:nvPr/>
          </p:nvSpPr>
          <p:spPr>
            <a:xfrm>
              <a:off x="0" y="-5760"/>
              <a:ext cx="641160" cy="4267080"/>
            </a:xfrm>
            <a:custGeom>
              <a:avLst/>
              <a:gdLst>
                <a:gd name="textAreaLeft" fmla="*/ 0 w 641160"/>
                <a:gd name="textAreaRight" fmla="*/ 647280 w 641160"/>
                <a:gd name="textAreaTop" fmla="*/ 0 h 4267080"/>
                <a:gd name="textAreaBottom" fmla="*/ 4273200 h 426708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0" name="Straight Connector 18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1" name="Straight Connector 19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2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3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4" name="Isosceles Triangle 22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5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6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7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8" name="Isosceles Triangle 26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8"/>
          <p:cNvSpPr>
            <a:spLocks noGrp="1"/>
          </p:cNvSpPr>
          <p:nvPr>
            <p:ph type="ftr" idx="31"/>
          </p:nvPr>
        </p:nvSpPr>
        <p:spPr>
          <a:xfrm>
            <a:off x="507960" y="4530960"/>
            <a:ext cx="47167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rPr>
              <a:t>&lt;pied de page&gt;</a:t>
            </a:r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PlaceHolder 9"/>
          <p:cNvSpPr>
            <a:spLocks noGrp="1"/>
          </p:cNvSpPr>
          <p:nvPr>
            <p:ph type="sldNum" idx="32"/>
          </p:nvPr>
        </p:nvSpPr>
        <p:spPr>
          <a:xfrm>
            <a:off x="6442920" y="4530960"/>
            <a:ext cx="50616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9B061C3-FCBA-44B2-A571-09A58A7B3F93}" type="slidenum">
              <a: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‹#›</a:t>
            </a:fld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PlaceHolder 10"/>
          <p:cNvSpPr>
            <a:spLocks noGrp="1"/>
          </p:cNvSpPr>
          <p:nvPr>
            <p:ph type="dt" idx="33"/>
          </p:nvPr>
        </p:nvSpPr>
        <p:spPr>
          <a:xfrm>
            <a:off x="5403960" y="4530960"/>
            <a:ext cx="6775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310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11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12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13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14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15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16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17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18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19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320" name="Group 15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321" name="Freeform 14"/>
            <p:cNvSpPr/>
            <p:nvPr/>
          </p:nvSpPr>
          <p:spPr>
            <a:xfrm>
              <a:off x="0" y="-5760"/>
              <a:ext cx="641160" cy="4267080"/>
            </a:xfrm>
            <a:custGeom>
              <a:avLst/>
              <a:gdLst>
                <a:gd name="textAreaLeft" fmla="*/ 0 w 641160"/>
                <a:gd name="textAreaRight" fmla="*/ 647280 w 641160"/>
                <a:gd name="textAreaTop" fmla="*/ 0 h 4267080"/>
                <a:gd name="textAreaBottom" fmla="*/ 4273200 h 426708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22" name="Straight Connector 18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23" name="Straight Connector 19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24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25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26" name="Isosceles Triangle 22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27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28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29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30" name="Isosceles Triangle 26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331" name="PlaceHolder 1"/>
          <p:cNvSpPr>
            <a:spLocks noGrp="1"/>
          </p:cNvSpPr>
          <p:nvPr>
            <p:ph type="ftr" idx="34"/>
          </p:nvPr>
        </p:nvSpPr>
        <p:spPr>
          <a:xfrm>
            <a:off x="507960" y="4530960"/>
            <a:ext cx="47167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rPr>
              <a:t>&lt;pied de page&gt;</a:t>
            </a:r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 type="sldNum" idx="35"/>
          </p:nvPr>
        </p:nvSpPr>
        <p:spPr>
          <a:xfrm>
            <a:off x="6442920" y="4530960"/>
            <a:ext cx="50616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B630DAD-CE84-4B38-AD0B-9A0D0CE8F419}" type="slidenum">
              <a: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‹#›</a:t>
            </a:fld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dt" idx="36"/>
          </p:nvPr>
        </p:nvSpPr>
        <p:spPr>
          <a:xfrm>
            <a:off x="5403960" y="4530960"/>
            <a:ext cx="6775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360" cy="29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339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40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41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42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43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44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45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46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47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48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 type="ftr" idx="37"/>
          </p:nvPr>
        </p:nvSpPr>
        <p:spPr>
          <a:xfrm>
            <a:off x="507960" y="4530960"/>
            <a:ext cx="47167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rPr>
              <a:t>&lt;pied de page&gt;</a:t>
            </a:r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38"/>
          </p:nvPr>
        </p:nvSpPr>
        <p:spPr>
          <a:xfrm>
            <a:off x="6442920" y="4530960"/>
            <a:ext cx="50616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8B2186A-DAFD-4316-9448-EBC5D08880BA}" type="slidenum">
              <a: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‹#›</a:t>
            </a:fld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PlaceHolder 4"/>
          <p:cNvSpPr>
            <a:spLocks noGrp="1"/>
          </p:cNvSpPr>
          <p:nvPr>
            <p:ph type="dt" idx="39"/>
          </p:nvPr>
        </p:nvSpPr>
        <p:spPr>
          <a:xfrm>
            <a:off x="5403960" y="4530960"/>
            <a:ext cx="6775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3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354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55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56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57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58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59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60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61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62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63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 type="ftr" idx="40"/>
          </p:nvPr>
        </p:nvSpPr>
        <p:spPr>
          <a:xfrm>
            <a:off x="507960" y="4530960"/>
            <a:ext cx="47167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rPr>
              <a:t>&lt;pied de page&gt;</a:t>
            </a:r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41"/>
          </p:nvPr>
        </p:nvSpPr>
        <p:spPr>
          <a:xfrm>
            <a:off x="6442920" y="4530960"/>
            <a:ext cx="50616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2274D47-8D6D-42F3-8211-5059F17C0F7D}" type="slidenum">
              <a: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‹#›</a:t>
            </a:fld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PlaceHolder 4"/>
          <p:cNvSpPr>
            <a:spLocks noGrp="1"/>
          </p:cNvSpPr>
          <p:nvPr>
            <p:ph type="dt" idx="42"/>
          </p:nvPr>
        </p:nvSpPr>
        <p:spPr>
          <a:xfrm>
            <a:off x="5403960" y="4530960"/>
            <a:ext cx="6775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369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70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71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72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73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74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75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76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77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78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29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ftr" idx="43"/>
          </p:nvPr>
        </p:nvSpPr>
        <p:spPr>
          <a:xfrm>
            <a:off x="507960" y="4530960"/>
            <a:ext cx="47167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rPr>
              <a:t>&lt;pied de page&gt;</a:t>
            </a:r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PlaceHolder 4"/>
          <p:cNvSpPr>
            <a:spLocks noGrp="1"/>
          </p:cNvSpPr>
          <p:nvPr>
            <p:ph type="sldNum" idx="44"/>
          </p:nvPr>
        </p:nvSpPr>
        <p:spPr>
          <a:xfrm>
            <a:off x="6442920" y="4530960"/>
            <a:ext cx="50616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1C4CBA-9768-4D0E-ADBB-3341A1CCCB4E}" type="slidenum">
              <a: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‹#›</a:t>
            </a:fld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PlaceHolder 5"/>
          <p:cNvSpPr>
            <a:spLocks noGrp="1"/>
          </p:cNvSpPr>
          <p:nvPr>
            <p:ph type="dt" idx="45"/>
          </p:nvPr>
        </p:nvSpPr>
        <p:spPr>
          <a:xfrm>
            <a:off x="5403960" y="4530960"/>
            <a:ext cx="6775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4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385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86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87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88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89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90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91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92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93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94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4"/>
          <p:cNvSpPr>
            <a:spLocks noGrp="1"/>
          </p:cNvSpPr>
          <p:nvPr>
            <p:ph type="ftr" idx="46"/>
          </p:nvPr>
        </p:nvSpPr>
        <p:spPr>
          <a:xfrm>
            <a:off x="507960" y="4530960"/>
            <a:ext cx="47167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rPr>
              <a:t>&lt;pied de page&gt;</a:t>
            </a:r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PlaceHolder 5"/>
          <p:cNvSpPr>
            <a:spLocks noGrp="1"/>
          </p:cNvSpPr>
          <p:nvPr>
            <p:ph type="sldNum" idx="47"/>
          </p:nvPr>
        </p:nvSpPr>
        <p:spPr>
          <a:xfrm>
            <a:off x="6442920" y="4530960"/>
            <a:ext cx="50616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227C4A-F9C5-4489-85F5-BEF313AE3EC9}" type="slidenum">
              <a: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‹#›</a:t>
            </a:fld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PlaceHolder 6"/>
          <p:cNvSpPr>
            <a:spLocks noGrp="1"/>
          </p:cNvSpPr>
          <p:nvPr>
            <p:ph type="dt" idx="48"/>
          </p:nvPr>
        </p:nvSpPr>
        <p:spPr>
          <a:xfrm>
            <a:off x="5403960" y="4530960"/>
            <a:ext cx="6775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1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402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03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04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05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06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07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08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09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10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11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412" name="PlaceHolder 1"/>
          <p:cNvSpPr>
            <a:spLocks noGrp="1"/>
          </p:cNvSpPr>
          <p:nvPr>
            <p:ph type="ftr" idx="49"/>
          </p:nvPr>
        </p:nvSpPr>
        <p:spPr>
          <a:xfrm>
            <a:off x="507960" y="4530960"/>
            <a:ext cx="47167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rPr>
              <a:t>&lt;pied de page&gt;</a:t>
            </a:r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PlaceHolder 2"/>
          <p:cNvSpPr>
            <a:spLocks noGrp="1"/>
          </p:cNvSpPr>
          <p:nvPr>
            <p:ph type="sldNum" idx="50"/>
          </p:nvPr>
        </p:nvSpPr>
        <p:spPr>
          <a:xfrm>
            <a:off x="6442920" y="4530960"/>
            <a:ext cx="50616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49F5973-8B9C-48B0-81D6-C253DFD0DFE3}" type="slidenum">
              <a: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‹#›</a:t>
            </a:fld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dt" idx="51"/>
          </p:nvPr>
        </p:nvSpPr>
        <p:spPr>
          <a:xfrm>
            <a:off x="5403960" y="4530960"/>
            <a:ext cx="6775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5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416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17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18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19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20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21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22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23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24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25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PlaceHolder 5"/>
          <p:cNvSpPr>
            <a:spLocks noGrp="1"/>
          </p:cNvSpPr>
          <p:nvPr>
            <p:ph type="ftr" idx="52"/>
          </p:nvPr>
        </p:nvSpPr>
        <p:spPr>
          <a:xfrm>
            <a:off x="507960" y="4530960"/>
            <a:ext cx="47167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rPr>
              <a:t>&lt;pied de page&gt;</a:t>
            </a:r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PlaceHolder 6"/>
          <p:cNvSpPr>
            <a:spLocks noGrp="1"/>
          </p:cNvSpPr>
          <p:nvPr>
            <p:ph type="sldNum" idx="53"/>
          </p:nvPr>
        </p:nvSpPr>
        <p:spPr>
          <a:xfrm>
            <a:off x="6442920" y="4530960"/>
            <a:ext cx="50616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8E10885-5D31-449F-813E-9C71000AB311}" type="slidenum">
              <a: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‹#›</a:t>
            </a:fld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PlaceHolder 7"/>
          <p:cNvSpPr>
            <a:spLocks noGrp="1"/>
          </p:cNvSpPr>
          <p:nvPr>
            <p:ph type="dt" idx="54"/>
          </p:nvPr>
        </p:nvSpPr>
        <p:spPr>
          <a:xfrm>
            <a:off x="5403960" y="4530960"/>
            <a:ext cx="6775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434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35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36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37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38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39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40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41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42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43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PlaceHolder 5"/>
          <p:cNvSpPr>
            <a:spLocks noGrp="1"/>
          </p:cNvSpPr>
          <p:nvPr>
            <p:ph type="ftr" idx="55"/>
          </p:nvPr>
        </p:nvSpPr>
        <p:spPr>
          <a:xfrm>
            <a:off x="507960" y="4530960"/>
            <a:ext cx="47167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rPr>
              <a:t>&lt;pied de page&gt;</a:t>
            </a:r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PlaceHolder 6"/>
          <p:cNvSpPr>
            <a:spLocks noGrp="1"/>
          </p:cNvSpPr>
          <p:nvPr>
            <p:ph type="sldNum" idx="56"/>
          </p:nvPr>
        </p:nvSpPr>
        <p:spPr>
          <a:xfrm>
            <a:off x="6442920" y="4530960"/>
            <a:ext cx="50616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7F2E26C-0237-4240-9364-DEF94A03476B}" type="slidenum">
              <a: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‹#›</a:t>
            </a:fld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PlaceHolder 7"/>
          <p:cNvSpPr>
            <a:spLocks noGrp="1"/>
          </p:cNvSpPr>
          <p:nvPr>
            <p:ph type="dt" idx="57"/>
          </p:nvPr>
        </p:nvSpPr>
        <p:spPr>
          <a:xfrm>
            <a:off x="5403960" y="4530960"/>
            <a:ext cx="6775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452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53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54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55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56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57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58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59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60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61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PlaceHolder 5"/>
          <p:cNvSpPr>
            <a:spLocks noGrp="1"/>
          </p:cNvSpPr>
          <p:nvPr>
            <p:ph type="ftr" idx="58"/>
          </p:nvPr>
        </p:nvSpPr>
        <p:spPr>
          <a:xfrm>
            <a:off x="507960" y="4530960"/>
            <a:ext cx="47167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rPr>
              <a:t>&lt;pied de page&gt;</a:t>
            </a:r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PlaceHolder 6"/>
          <p:cNvSpPr>
            <a:spLocks noGrp="1"/>
          </p:cNvSpPr>
          <p:nvPr>
            <p:ph type="sldNum" idx="59"/>
          </p:nvPr>
        </p:nvSpPr>
        <p:spPr>
          <a:xfrm>
            <a:off x="6442920" y="4530960"/>
            <a:ext cx="50616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BA0034A-666E-4EDB-B4B9-AA12C2619BE4}" type="slidenum">
              <a: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‹#›</a:t>
            </a:fld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PlaceHolder 7"/>
          <p:cNvSpPr>
            <a:spLocks noGrp="1"/>
          </p:cNvSpPr>
          <p:nvPr>
            <p:ph type="dt" idx="60"/>
          </p:nvPr>
        </p:nvSpPr>
        <p:spPr>
          <a:xfrm>
            <a:off x="5403960" y="4530960"/>
            <a:ext cx="6775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9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470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71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72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73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74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75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76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77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78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79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4"/>
          <p:cNvSpPr>
            <a:spLocks noGrp="1"/>
          </p:cNvSpPr>
          <p:nvPr>
            <p:ph type="ftr" idx="61"/>
          </p:nvPr>
        </p:nvSpPr>
        <p:spPr>
          <a:xfrm>
            <a:off x="507960" y="4530960"/>
            <a:ext cx="47167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rPr>
              <a:t>&lt;pied de page&gt;</a:t>
            </a:r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PlaceHolder 5"/>
          <p:cNvSpPr>
            <a:spLocks noGrp="1"/>
          </p:cNvSpPr>
          <p:nvPr>
            <p:ph type="sldNum" idx="62"/>
          </p:nvPr>
        </p:nvSpPr>
        <p:spPr>
          <a:xfrm>
            <a:off x="6442920" y="4530960"/>
            <a:ext cx="50616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76D7801-9D1C-49D8-BBE9-72325500752D}" type="slidenum">
              <a: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‹#›</a:t>
            </a:fld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PlaceHolder 6"/>
          <p:cNvSpPr>
            <a:spLocks noGrp="1"/>
          </p:cNvSpPr>
          <p:nvPr>
            <p:ph type="dt" idx="63"/>
          </p:nvPr>
        </p:nvSpPr>
        <p:spPr>
          <a:xfrm>
            <a:off x="5403960" y="4530960"/>
            <a:ext cx="6775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6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487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88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89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90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91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92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93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94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95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96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4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PlaceHolder 6"/>
          <p:cNvSpPr>
            <a:spLocks noGrp="1"/>
          </p:cNvSpPr>
          <p:nvPr>
            <p:ph type="ftr" idx="64"/>
          </p:nvPr>
        </p:nvSpPr>
        <p:spPr>
          <a:xfrm>
            <a:off x="507960" y="4530960"/>
            <a:ext cx="47167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rPr>
              <a:t>&lt;pied de page&gt;</a:t>
            </a:r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PlaceHolder 7"/>
          <p:cNvSpPr>
            <a:spLocks noGrp="1"/>
          </p:cNvSpPr>
          <p:nvPr>
            <p:ph type="sldNum" idx="65"/>
          </p:nvPr>
        </p:nvSpPr>
        <p:spPr>
          <a:xfrm>
            <a:off x="6442920" y="4530960"/>
            <a:ext cx="50616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72B5D04-CCE9-4289-9FDE-0777D7831CF9}" type="slidenum">
              <a: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‹#›</a:t>
            </a:fld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PlaceHolder 8"/>
          <p:cNvSpPr>
            <a:spLocks noGrp="1"/>
          </p:cNvSpPr>
          <p:nvPr>
            <p:ph type="dt" idx="66"/>
          </p:nvPr>
        </p:nvSpPr>
        <p:spPr>
          <a:xfrm>
            <a:off x="5403960" y="4530960"/>
            <a:ext cx="6775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5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506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07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08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09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10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11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12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13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14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15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5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PlaceHolder 8"/>
          <p:cNvSpPr>
            <a:spLocks noGrp="1"/>
          </p:cNvSpPr>
          <p:nvPr>
            <p:ph type="ftr" idx="67"/>
          </p:nvPr>
        </p:nvSpPr>
        <p:spPr>
          <a:xfrm>
            <a:off x="507960" y="4530960"/>
            <a:ext cx="47167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rPr>
              <a:t>&lt;pied de page&gt;</a:t>
            </a:r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PlaceHolder 9"/>
          <p:cNvSpPr>
            <a:spLocks noGrp="1"/>
          </p:cNvSpPr>
          <p:nvPr>
            <p:ph type="sldNum" idx="68"/>
          </p:nvPr>
        </p:nvSpPr>
        <p:spPr>
          <a:xfrm>
            <a:off x="6442920" y="4530960"/>
            <a:ext cx="50616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4D96FB5-CA7F-4E08-9070-1B4C7EF1BE51}" type="slidenum">
              <a: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‹#›</a:t>
            </a:fld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PlaceHolder 10"/>
          <p:cNvSpPr>
            <a:spLocks noGrp="1"/>
          </p:cNvSpPr>
          <p:nvPr>
            <p:ph type="dt" idx="69"/>
          </p:nvPr>
        </p:nvSpPr>
        <p:spPr>
          <a:xfrm>
            <a:off x="5403960" y="4530960"/>
            <a:ext cx="6775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527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28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29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30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31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32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33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34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35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36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537" name="PlaceHolder 1"/>
          <p:cNvSpPr>
            <a:spLocks noGrp="1"/>
          </p:cNvSpPr>
          <p:nvPr>
            <p:ph type="ftr" idx="70"/>
          </p:nvPr>
        </p:nvSpPr>
        <p:spPr>
          <a:xfrm>
            <a:off x="507960" y="4530960"/>
            <a:ext cx="47167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rPr>
              <a:t>&lt;pied de page&gt;</a:t>
            </a:r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PlaceHolder 2"/>
          <p:cNvSpPr>
            <a:spLocks noGrp="1"/>
          </p:cNvSpPr>
          <p:nvPr>
            <p:ph type="sldNum" idx="71"/>
          </p:nvPr>
        </p:nvSpPr>
        <p:spPr>
          <a:xfrm>
            <a:off x="6442920" y="4530960"/>
            <a:ext cx="50616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3101537-2A8B-47D4-9D93-94BE66B55FCB}" type="slidenum">
              <a: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‹#›</a:t>
            </a:fld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 type="dt" idx="72"/>
          </p:nvPr>
        </p:nvSpPr>
        <p:spPr>
          <a:xfrm>
            <a:off x="5403960" y="4530960"/>
            <a:ext cx="6775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360" cy="29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543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44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45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46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47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48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49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50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51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52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5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4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555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56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57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58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59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60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61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62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63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64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5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6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567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68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69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70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71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72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73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74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75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76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5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29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9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580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81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82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83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84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85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86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87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88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89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5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594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95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96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97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98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99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00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01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02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03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605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06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07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08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09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10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11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12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13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14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6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9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620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21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22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23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24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25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26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27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28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29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6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635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36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37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38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39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40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41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42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43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44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6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9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650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51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52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53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54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55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56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57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58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59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6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3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664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65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66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67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68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69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70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71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72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73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6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680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81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82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83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84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85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86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87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88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89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6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7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698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99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00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01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02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03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04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05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06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07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7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texte-titre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360" cy="29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Cliquez pour éditer le format du plan de texte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Troisième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Quatrième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0" name="Group 43"/>
          <p:cNvGrpSpPr/>
          <p:nvPr/>
        </p:nvGrpSpPr>
        <p:grpSpPr>
          <a:xfrm>
            <a:off x="0" y="-6480"/>
            <a:ext cx="9141480" cy="5149800"/>
            <a:chOff x="0" y="-6480"/>
            <a:chExt cx="9141480" cy="5149800"/>
          </a:xfrm>
        </p:grpSpPr>
        <p:sp>
          <p:nvSpPr>
            <p:cNvPr id="711" name="Straight Connector 19"/>
            <p:cNvSpPr/>
            <p:nvPr/>
          </p:nvSpPr>
          <p:spPr>
            <a:xfrm>
              <a:off x="7027920" y="0"/>
              <a:ext cx="914400" cy="514332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12" name="Straight Connector 20"/>
            <p:cNvSpPr/>
            <p:nvPr/>
          </p:nvSpPr>
          <p:spPr>
            <a:xfrm flipH="1">
              <a:off x="5568840" y="2760840"/>
              <a:ext cx="3572640" cy="2382480"/>
            </a:xfrm>
            <a:prstGeom prst="line">
              <a:avLst/>
            </a:prstGeom>
            <a:ln w="9360" cap="rnd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13" name="Rectangle 23"/>
            <p:cNvSpPr/>
            <p:nvPr/>
          </p:nvSpPr>
          <p:spPr>
            <a:xfrm>
              <a:off x="6886080" y="-6480"/>
              <a:ext cx="2248920" cy="5143320"/>
            </a:xfrm>
            <a:custGeom>
              <a:avLst/>
              <a:gdLst>
                <a:gd name="textAreaLeft" fmla="*/ 0 w 2248920"/>
                <a:gd name="textAreaRight" fmla="*/ 2255040 w 224892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14" name="Rectangle 25"/>
            <p:cNvSpPr/>
            <p:nvPr/>
          </p:nvSpPr>
          <p:spPr>
            <a:xfrm>
              <a:off x="7202520" y="-6480"/>
              <a:ext cx="1935000" cy="5143320"/>
            </a:xfrm>
            <a:custGeom>
              <a:avLst/>
              <a:gdLst>
                <a:gd name="textAreaLeft" fmla="*/ 0 w 1935000"/>
                <a:gd name="textAreaRight" fmla="*/ 1941120 w 19350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15" name="Isosceles Triangle 23"/>
            <p:cNvSpPr/>
            <p:nvPr/>
          </p:nvSpPr>
          <p:spPr>
            <a:xfrm>
              <a:off x="6699240" y="2286000"/>
              <a:ext cx="2438280" cy="28508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16" name="Rectangle 27"/>
            <p:cNvSpPr/>
            <p:nvPr/>
          </p:nvSpPr>
          <p:spPr>
            <a:xfrm>
              <a:off x="7000920" y="-6480"/>
              <a:ext cx="2134440" cy="5143320"/>
            </a:xfrm>
            <a:custGeom>
              <a:avLst/>
              <a:gdLst>
                <a:gd name="textAreaLeft" fmla="*/ 0 w 2134440"/>
                <a:gd name="textAreaRight" fmla="*/ 2140560 w 213444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17" name="Rectangle 28"/>
            <p:cNvSpPr/>
            <p:nvPr/>
          </p:nvSpPr>
          <p:spPr>
            <a:xfrm>
              <a:off x="8174160" y="-6480"/>
              <a:ext cx="961200" cy="5143320"/>
            </a:xfrm>
            <a:custGeom>
              <a:avLst/>
              <a:gdLst>
                <a:gd name="textAreaLeft" fmla="*/ 0 w 961200"/>
                <a:gd name="textAreaRight" fmla="*/ 967320 w 96120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18" name="Rectangle 29"/>
            <p:cNvSpPr/>
            <p:nvPr/>
          </p:nvSpPr>
          <p:spPr>
            <a:xfrm>
              <a:off x="8204400" y="-6480"/>
              <a:ext cx="930960" cy="5143320"/>
            </a:xfrm>
            <a:custGeom>
              <a:avLst/>
              <a:gdLst>
                <a:gd name="textAreaLeft" fmla="*/ 0 w 930960"/>
                <a:gd name="textAreaRight" fmla="*/ 937080 w 930960"/>
                <a:gd name="textAreaTop" fmla="*/ 0 h 5143320"/>
                <a:gd name="textAreaBottom" fmla="*/ 5149440 h 51433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19" name="Isosceles Triangle 27"/>
            <p:cNvSpPr/>
            <p:nvPr/>
          </p:nvSpPr>
          <p:spPr>
            <a:xfrm>
              <a:off x="7778880" y="2692440"/>
              <a:ext cx="1356480" cy="24447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20" name="Isosceles Triangle 18"/>
            <p:cNvSpPr/>
            <p:nvPr/>
          </p:nvSpPr>
          <p:spPr>
            <a:xfrm>
              <a:off x="0" y="3009960"/>
              <a:ext cx="330120" cy="21272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6480"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721" name="PlaceHolder 1"/>
          <p:cNvSpPr>
            <a:spLocks noGrp="1"/>
          </p:cNvSpPr>
          <p:nvPr>
            <p:ph type="ftr" idx="73"/>
          </p:nvPr>
        </p:nvSpPr>
        <p:spPr>
          <a:xfrm>
            <a:off x="507960" y="4530960"/>
            <a:ext cx="47167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70" b="0" u="none" strike="noStrike">
                <a:solidFill>
                  <a:srgbClr val="8B8B8B"/>
                </a:solidFill>
                <a:effectLst/>
                <a:uFillTx/>
                <a:latin typeface="Trebuchet MS"/>
                <a:ea typeface="DejaVu Sans"/>
              </a:rPr>
              <a:t>&lt;pied de page&gt;</a:t>
            </a:r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PlaceHolder 2"/>
          <p:cNvSpPr>
            <a:spLocks noGrp="1"/>
          </p:cNvSpPr>
          <p:nvPr>
            <p:ph type="sldNum" idx="74"/>
          </p:nvPr>
        </p:nvSpPr>
        <p:spPr>
          <a:xfrm>
            <a:off x="6442920" y="4530960"/>
            <a:ext cx="50616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30716DC-9184-4202-8D51-747C546CA85B}" type="slidenum">
              <a:rPr lang="en-GB" sz="67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‹#›</a:t>
            </a:fld>
            <a:endParaRPr lang="fr-FR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PlaceHolder 3"/>
          <p:cNvSpPr>
            <a:spLocks noGrp="1"/>
          </p:cNvSpPr>
          <p:nvPr>
            <p:ph type="dt" idx="75"/>
          </p:nvPr>
        </p:nvSpPr>
        <p:spPr>
          <a:xfrm>
            <a:off x="5403960" y="4530960"/>
            <a:ext cx="677520" cy="26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</a:p>
        </p:txBody>
      </p:sp>
      <p:sp>
        <p:nvSpPr>
          <p:cNvPr id="724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</a:p>
        </p:txBody>
      </p:sp>
      <p:sp>
        <p:nvSpPr>
          <p:cNvPr id="725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nexus.etu-k8s.lan/repository/maven-public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sonarqube.univ-artois.fr/" TargetMode="External"/><Relationship Id="rId2" Type="http://schemas.openxmlformats.org/officeDocument/2006/relationships/hyperlink" Target="http://nexus.etu-k8s.lan/repository/maven-public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/>
          </p:cNvSpPr>
          <p:nvPr>
            <p:ph type="title"/>
          </p:nvPr>
        </p:nvSpPr>
        <p:spPr>
          <a:xfrm>
            <a:off x="2000160" y="1746360"/>
            <a:ext cx="5137200" cy="101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300" b="0" u="none" strike="noStrike">
                <a:solidFill>
                  <a:srgbClr val="286C9E"/>
                </a:solidFill>
                <a:effectLst/>
                <a:uFillTx/>
                <a:latin typeface="Trebuchet MS"/>
                <a:ea typeface="DejaVu Sans"/>
              </a:rPr>
              <a:t>DEVOPS </a:t>
            </a:r>
            <a:br>
              <a:rPr sz="3300"/>
            </a:br>
            <a:r>
              <a:rPr lang="fr-FR" sz="3300" b="0" u="none" strike="noStrike">
                <a:solidFill>
                  <a:srgbClr val="286C9E"/>
                </a:solidFill>
                <a:effectLst/>
                <a:uFillTx/>
                <a:latin typeface="Trebuchet MS"/>
                <a:ea typeface="DejaVu Sans"/>
              </a:rPr>
              <a:t>M2 ILI</a:t>
            </a:r>
            <a:endParaRPr lang="fr-F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PlaceHolder 2"/>
          <p:cNvSpPr>
            <a:spLocks noGrp="1"/>
          </p:cNvSpPr>
          <p:nvPr>
            <p:ph type="subTitle"/>
          </p:nvPr>
        </p:nvSpPr>
        <p:spPr>
          <a:xfrm>
            <a:off x="2000160" y="2701440"/>
            <a:ext cx="5137200" cy="70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28600" indent="0" algn="ctr" defTabSz="914400">
              <a:lnSpc>
                <a:spcPct val="11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fr-FR" sz="800" b="0" u="none" strike="noStrike">
                <a:solidFill>
                  <a:srgbClr val="286C9E"/>
                </a:solidFill>
                <a:effectLst/>
                <a:uFillTx/>
                <a:latin typeface="Trebuchet MS"/>
                <a:ea typeface="DejaVu Sans"/>
              </a:rPr>
              <a:t>Projet de fin de module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algn="ctr" defTabSz="914400">
              <a:lnSpc>
                <a:spcPct val="110000"/>
              </a:lnSpc>
              <a:spcBef>
                <a:spcPts val="751"/>
              </a:spcBef>
              <a:buNone/>
              <a:tabLst>
                <a:tab pos="0" algn="l"/>
              </a:tabLst>
            </a:pP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algn="ctr" defTabSz="914400">
              <a:lnSpc>
                <a:spcPct val="11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fr-FR" sz="800" b="0" u="none" strike="noStrike">
                <a:solidFill>
                  <a:srgbClr val="286C9E"/>
                </a:solidFill>
                <a:effectLst/>
                <a:uFillTx/>
                <a:latin typeface="Trebuchet MS"/>
                <a:ea typeface="DejaVu Sans"/>
              </a:rPr>
              <a:t>année scolaire 2025-2026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algn="ctr" defTabSz="914400">
              <a:lnSpc>
                <a:spcPct val="110000"/>
              </a:lnSpc>
              <a:spcBef>
                <a:spcPts val="751"/>
              </a:spcBef>
              <a:buNone/>
              <a:tabLst>
                <a:tab pos="0" algn="l"/>
              </a:tabLst>
            </a:pP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PlaceHolder 1"/>
          <p:cNvSpPr>
            <a:spLocks noGrp="1"/>
          </p:cNvSpPr>
          <p:nvPr>
            <p:ph type="title"/>
          </p:nvPr>
        </p:nvSpPr>
        <p:spPr>
          <a:xfrm>
            <a:off x="507960" y="457200"/>
            <a:ext cx="6441120" cy="984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70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Modalités générales</a:t>
            </a:r>
            <a:endParaRPr lang="fr-F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PlaceHolder 2"/>
          <p:cNvSpPr>
            <a:spLocks noGrp="1"/>
          </p:cNvSpPr>
          <p:nvPr>
            <p:ph/>
          </p:nvPr>
        </p:nvSpPr>
        <p:spPr>
          <a:xfrm>
            <a:off x="507960" y="1620360"/>
            <a:ext cx="6441120" cy="2904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348480" indent="-348480" defTabSz="914400">
              <a:lnSpc>
                <a:spcPct val="100000"/>
              </a:lnSpc>
              <a:spcBef>
                <a:spcPts val="751"/>
              </a:spcBef>
              <a:buClr>
                <a:srgbClr val="5FCBEF"/>
              </a:buClr>
              <a:buSzPct val="80000"/>
              <a:buFont typeface="Arial"/>
              <a:buChar char="•"/>
            </a:pP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Le projet doit être réalisé en binôme. 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3000" indent="0" defTabSz="9144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</a:pP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8480" indent="-348480" defTabSz="914400">
              <a:lnSpc>
                <a:spcPct val="100000"/>
              </a:lnSpc>
              <a:spcBef>
                <a:spcPts val="751"/>
              </a:spcBef>
              <a:buClr>
                <a:srgbClr val="5FCBEF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Chaque binôme choisit parmi un vote Moodle une combinaison de 2 technologies imposées (un reverse-proxy, un serveur d'application)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3000" indent="0" defTabSz="9144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</a:pP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8480" indent="-348480" defTabSz="914400">
              <a:lnSpc>
                <a:spcPct val="100000"/>
              </a:lnSpc>
              <a:spcBef>
                <a:spcPts val="751"/>
              </a:spcBef>
              <a:buClr>
                <a:srgbClr val="5FCBEF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La remise du projet se fait sous la forme d'un repo GitLab privé </a:t>
            </a:r>
            <a:r>
              <a:rPr lang="fr-FR" sz="120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(merci d'ajouter les enseignants comme contributeurs du projet pour permettre la correction)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3000" indent="0" defTabSz="9144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8480" indent="-348480" defTabSz="914400">
              <a:lnSpc>
                <a:spcPct val="100000"/>
              </a:lnSpc>
              <a:spcBef>
                <a:spcPts val="751"/>
              </a:spcBef>
              <a:buClr>
                <a:srgbClr val="5FCBEF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Toute documentation, tout commentaire, tout complément d'information, doivent se faire via le README de votre repo.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3000" indent="0" defTabSz="9144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</a:pP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PlaceHolder 1"/>
          <p:cNvSpPr>
            <a:spLocks noGrp="1"/>
          </p:cNvSpPr>
          <p:nvPr>
            <p:ph type="title"/>
          </p:nvPr>
        </p:nvSpPr>
        <p:spPr>
          <a:xfrm>
            <a:off x="507960" y="457200"/>
            <a:ext cx="6441120" cy="984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70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TECHNOLOGIES IMPOSÉES </a:t>
            </a:r>
            <a:endParaRPr lang="fr-F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7" name="Tableau 4"/>
          <p:cNvGraphicFramePr/>
          <p:nvPr>
            <p:extLst>
              <p:ext uri="{D42A27DB-BD31-4B8C-83A1-F6EECF244321}">
                <p14:modId xmlns:p14="http://schemas.microsoft.com/office/powerpoint/2010/main" val="3427544607"/>
              </p:ext>
            </p:extLst>
          </p:nvPr>
        </p:nvGraphicFramePr>
        <p:xfrm>
          <a:off x="507960" y="1620720"/>
          <a:ext cx="6446520" cy="2823660"/>
        </p:xfrm>
        <a:graphic>
          <a:graphicData uri="http://schemas.openxmlformats.org/drawingml/2006/table">
            <a:tbl>
              <a:tblPr/>
              <a:tblGrid>
                <a:gridCol w="322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0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3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Reverse-Proxy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9200" marR="79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3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Serveur d’Application</a:t>
                      </a:r>
                      <a:endParaRPr lang="fr-F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9200" marR="79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3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Apache </a:t>
                      </a:r>
                      <a:r>
                        <a:rPr lang="fr-FR" sz="135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HTTPd</a:t>
                      </a:r>
                      <a:endParaRPr lang="fr-FR" sz="13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fr-FR" sz="13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3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Nginx</a:t>
                      </a:r>
                      <a:endParaRPr lang="fr-FR" sz="13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fr-FR" sz="13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3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Nginx Unit</a:t>
                      </a:r>
                      <a:endParaRPr lang="fr-FR" sz="13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fr-FR" sz="13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35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HAProxy</a:t>
                      </a:r>
                      <a:endParaRPr lang="fr-FR" sz="13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fr-FR" sz="13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35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Traefik</a:t>
                      </a:r>
                      <a:endParaRPr lang="fr-FR" sz="13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Trebuchet MS"/>
                        <a:ea typeface="DejaVu Sans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fr-FR" sz="13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Trebuchet MS"/>
                        <a:ea typeface="DejaVu Sans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350" b="0" i="0" kern="120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Caddy</a:t>
                      </a:r>
                      <a:endParaRPr lang="fr-FR" sz="13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9200" marR="79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3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Tomcat</a:t>
                      </a:r>
                      <a:endParaRPr lang="fr-FR" sz="13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fr-FR" sz="13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35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Wildfly</a:t>
                      </a:r>
                      <a:endParaRPr lang="fr-FR" sz="13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fr-FR" sz="13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35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Jetty</a:t>
                      </a:r>
                      <a:endParaRPr lang="fr-FR" sz="13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9200" marR="792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title"/>
          </p:nvPr>
        </p:nvSpPr>
        <p:spPr>
          <a:xfrm>
            <a:off x="507960" y="457200"/>
            <a:ext cx="6441120" cy="984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70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Date BUTOIR</a:t>
            </a:r>
            <a:endParaRPr lang="fr-F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PlaceHolder 2"/>
          <p:cNvSpPr>
            <a:spLocks noGrp="1"/>
          </p:cNvSpPr>
          <p:nvPr>
            <p:ph/>
          </p:nvPr>
        </p:nvSpPr>
        <p:spPr>
          <a:xfrm>
            <a:off x="507960" y="1620360"/>
            <a:ext cx="6441120" cy="2904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68200" indent="0" algn="ctr" defTabSz="9144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fr-FR" sz="280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La remise du projet est prévue pour le 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indent="0" algn="ctr" defTabSz="9144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fr-FR" sz="4400" b="1" u="none" strike="noStrike">
                <a:solidFill>
                  <a:srgbClr val="42D0A2"/>
                </a:solidFill>
                <a:effectLst/>
                <a:uFillTx/>
                <a:latin typeface="Trebuchet MS"/>
                <a:ea typeface="DejaVu Sans"/>
              </a:rPr>
              <a:t>4 janvier 2026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indent="0" defTabSz="9144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</a:pP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indent="0" algn="ctr" defTabSz="9144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808080"/>
                </a:solidFill>
                <a:effectLst/>
                <a:uFillTx/>
                <a:latin typeface="Trebuchet MS"/>
                <a:ea typeface="DejaVu Sans"/>
              </a:rPr>
              <a:t>(ne seront corrigés que les commits créés jusqu’à cette date)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032760" cy="1022400"/>
          </a:xfrm>
          <a:prstGeom prst="rect">
            <a:avLst/>
          </a:prstGeom>
          <a:solidFill>
            <a:srgbClr val="2C3C43"/>
          </a:solidFill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700" b="0" u="none" strike="noStrike">
                <a:solidFill>
                  <a:srgbClr val="FFFFFF"/>
                </a:solidFill>
                <a:effectLst/>
                <a:uFillTx/>
                <a:latin typeface="Trebuchet MS"/>
                <a:ea typeface="DejaVu Sans"/>
              </a:rPr>
              <a:t>Partie 1</a:t>
            </a:r>
            <a:r>
              <a:rPr lang="fr-FR" sz="1800" b="0" u="none" strike="noStrike">
                <a:solidFill>
                  <a:srgbClr val="FFFFFF"/>
                </a:solidFill>
                <a:effectLst/>
                <a:uFillTx/>
                <a:latin typeface="Trebuchet MS"/>
                <a:ea typeface="DejaVu Sans"/>
              </a:rPr>
              <a:t> </a:t>
            </a:r>
            <a:r>
              <a:rPr lang="fr-FR" sz="1600" b="0" u="none" strike="noStrike">
                <a:solidFill>
                  <a:srgbClr val="BFBFBF"/>
                </a:solidFill>
                <a:effectLst/>
                <a:uFillTx/>
                <a:latin typeface="Trebuchet MS"/>
                <a:ea typeface="DejaVu Sans"/>
              </a:rPr>
              <a:t>(10 points)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1" name="PlaceHolder 2"/>
          <p:cNvSpPr>
            <a:spLocks noGrp="1"/>
          </p:cNvSpPr>
          <p:nvPr>
            <p:ph/>
          </p:nvPr>
        </p:nvSpPr>
        <p:spPr>
          <a:xfrm>
            <a:off x="856080" y="1686960"/>
            <a:ext cx="7083360" cy="108940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Trebuchet MS" panose="020B0603020202020204" pitchFamily="34" charset="0"/>
              </a:rPr>
              <a:t>Infrastructure &amp; Containers - </a:t>
            </a:r>
            <a:r>
              <a:rPr lang="en-US" sz="1350" dirty="0" err="1">
                <a:solidFill>
                  <a:srgbClr val="333333"/>
                </a:solidFill>
                <a:latin typeface="Trebuchet MS" panose="020B0603020202020204" pitchFamily="34" charset="0"/>
              </a:rPr>
              <a:t>Notée</a:t>
            </a:r>
            <a:r>
              <a:rPr lang="en-US" sz="1350" dirty="0">
                <a:solidFill>
                  <a:srgbClr val="333333"/>
                </a:solidFill>
                <a:latin typeface="Trebuchet MS" panose="020B0603020202020204" pitchFamily="34" charset="0"/>
              </a:rPr>
              <a:t> sur 10 points
</a:t>
            </a:r>
            <a:r>
              <a:rPr lang="en-US" sz="1350" b="1" dirty="0" err="1">
                <a:solidFill>
                  <a:srgbClr val="333333"/>
                </a:solidFill>
                <a:latin typeface="Trebuchet MS" panose="020B0603020202020204" pitchFamily="34" charset="0"/>
              </a:rPr>
              <a:t>Critères</a:t>
            </a:r>
            <a:r>
              <a:rPr lang="en-US" sz="1350" b="1" dirty="0">
                <a:solidFill>
                  <a:srgbClr val="333333"/>
                </a:solidFill>
                <a:latin typeface="Trebuchet MS" panose="020B0603020202020204" pitchFamily="34" charset="0"/>
              </a:rPr>
              <a:t> </a:t>
            </a:r>
            <a:r>
              <a:rPr lang="en-US" sz="1350" b="1" dirty="0" err="1">
                <a:solidFill>
                  <a:srgbClr val="333333"/>
                </a:solidFill>
                <a:latin typeface="Trebuchet MS" panose="020B0603020202020204" pitchFamily="34" charset="0"/>
              </a:rPr>
              <a:t>principaux</a:t>
            </a:r>
            <a:r>
              <a:rPr lang="en-US" sz="1350" b="1" dirty="0">
                <a:solidFill>
                  <a:srgbClr val="333333"/>
                </a:solidFill>
                <a:latin typeface="Trebuchet MS" panose="020B0603020202020204" pitchFamily="34" charset="0"/>
              </a:rPr>
              <a:t> (10 pts) + </a:t>
            </a:r>
            <a:r>
              <a:rPr lang="en-US" sz="1350" b="1" dirty="0" err="1">
                <a:solidFill>
                  <a:srgbClr val="333333"/>
                </a:solidFill>
                <a:latin typeface="Trebuchet MS" panose="020B0603020202020204" pitchFamily="34" charset="0"/>
              </a:rPr>
              <a:t>Compléments</a:t>
            </a:r>
            <a:r>
              <a:rPr lang="en-US" sz="1350" b="1" dirty="0">
                <a:solidFill>
                  <a:srgbClr val="333333"/>
                </a:solidFill>
                <a:latin typeface="Trebuchet MS" panose="020B0603020202020204" pitchFamily="34" charset="0"/>
              </a:rPr>
              <a:t> </a:t>
            </a:r>
            <a:r>
              <a:rPr lang="en-US" sz="1350" b="1" dirty="0" err="1">
                <a:solidFill>
                  <a:srgbClr val="333333"/>
                </a:solidFill>
                <a:latin typeface="Trebuchet MS" panose="020B0603020202020204" pitchFamily="34" charset="0"/>
              </a:rPr>
              <a:t>valorisés</a:t>
            </a:r>
            <a:r>
              <a:rPr lang="en-US" sz="1350" b="1" dirty="0">
                <a:solidFill>
                  <a:srgbClr val="333333"/>
                </a:solidFill>
                <a:latin typeface="Trebuchet MS" panose="020B0603020202020204" pitchFamily="34" charset="0"/>
              </a:rPr>
              <a:t>
</a:t>
            </a:r>
            <a:r>
              <a:rPr lang="en-US" sz="1350" dirty="0">
                <a:solidFill>
                  <a:srgbClr val="666666"/>
                </a:solidFill>
                <a:latin typeface="Trebuchet MS" panose="020B0603020202020204" pitchFamily="34" charset="0"/>
              </a:rPr>
              <a:t>Vous </a:t>
            </a:r>
            <a:r>
              <a:rPr lang="en-US" sz="1350" dirty="0" err="1">
                <a:solidFill>
                  <a:srgbClr val="666666"/>
                </a:solidFill>
                <a:latin typeface="Trebuchet MS" panose="020B0603020202020204" pitchFamily="34" charset="0"/>
              </a:rPr>
              <a:t>devez</a:t>
            </a:r>
            <a:r>
              <a:rPr lang="en-US" sz="1350" dirty="0">
                <a:solidFill>
                  <a:srgbClr val="666666"/>
                </a:solidFill>
                <a:latin typeface="Trebuchet MS" panose="020B0603020202020204" pitchFamily="34" charset="0"/>
              </a:rPr>
              <a:t> </a:t>
            </a:r>
            <a:r>
              <a:rPr lang="en-US" sz="1350" dirty="0" err="1">
                <a:solidFill>
                  <a:srgbClr val="666666"/>
                </a:solidFill>
                <a:latin typeface="Trebuchet MS" panose="020B0603020202020204" pitchFamily="34" charset="0"/>
              </a:rPr>
              <a:t>concevoir</a:t>
            </a:r>
            <a:r>
              <a:rPr lang="en-US" sz="1350" dirty="0">
                <a:solidFill>
                  <a:srgbClr val="666666"/>
                </a:solidFill>
                <a:latin typeface="Trebuchet MS" panose="020B0603020202020204" pitchFamily="34" charset="0"/>
              </a:rPr>
              <a:t> et </a:t>
            </a:r>
            <a:r>
              <a:rPr lang="en-US" sz="1350" dirty="0" err="1">
                <a:solidFill>
                  <a:srgbClr val="666666"/>
                </a:solidFill>
                <a:latin typeface="Trebuchet MS" panose="020B0603020202020204" pitchFamily="34" charset="0"/>
              </a:rPr>
              <a:t>déployer</a:t>
            </a:r>
            <a:r>
              <a:rPr lang="en-US" sz="1350" dirty="0">
                <a:solidFill>
                  <a:srgbClr val="666666"/>
                </a:solidFill>
                <a:latin typeface="Trebuchet MS" panose="020B0603020202020204" pitchFamily="34" charset="0"/>
              </a:rPr>
              <a:t> </a:t>
            </a:r>
            <a:r>
              <a:rPr lang="en-US" sz="1350" dirty="0" err="1">
                <a:solidFill>
                  <a:srgbClr val="666666"/>
                </a:solidFill>
                <a:latin typeface="Trebuchet MS" panose="020B0603020202020204" pitchFamily="34" charset="0"/>
              </a:rPr>
              <a:t>une</a:t>
            </a:r>
            <a:r>
              <a:rPr lang="en-US" sz="1350" dirty="0">
                <a:solidFill>
                  <a:srgbClr val="666666"/>
                </a:solidFill>
                <a:latin typeface="Trebuchet MS" panose="020B0603020202020204" pitchFamily="34" charset="0"/>
              </a:rPr>
              <a:t> architecture multi-tiers </a:t>
            </a:r>
            <a:r>
              <a:rPr lang="en-US" sz="1350" dirty="0" err="1">
                <a:solidFill>
                  <a:srgbClr val="666666"/>
                </a:solidFill>
                <a:latin typeface="Trebuchet MS" panose="020B0603020202020204" pitchFamily="34" charset="0"/>
              </a:rPr>
              <a:t>complète</a:t>
            </a:r>
            <a:r>
              <a:rPr lang="en-US" sz="1350" dirty="0">
                <a:solidFill>
                  <a:srgbClr val="666666"/>
                </a:solidFill>
                <a:latin typeface="Trebuchet MS" panose="020B0603020202020204" pitchFamily="34" charset="0"/>
              </a:rPr>
              <a:t> </a:t>
            </a:r>
            <a:r>
              <a:rPr lang="en-US" sz="1350" dirty="0" err="1">
                <a:solidFill>
                  <a:srgbClr val="666666"/>
                </a:solidFill>
                <a:latin typeface="Trebuchet MS" panose="020B0603020202020204" pitchFamily="34" charset="0"/>
              </a:rPr>
              <a:t>basée</a:t>
            </a:r>
            <a:r>
              <a:rPr lang="en-US" sz="1350" dirty="0">
                <a:solidFill>
                  <a:srgbClr val="666666"/>
                </a:solidFill>
                <a:latin typeface="Trebuchet MS" panose="020B0603020202020204" pitchFamily="34" charset="0"/>
              </a:rPr>
              <a:t> sur Docker et Docker Compose, </a:t>
            </a:r>
            <a:r>
              <a:rPr lang="en-US" sz="1350" dirty="0" err="1">
                <a:solidFill>
                  <a:srgbClr val="666666"/>
                </a:solidFill>
                <a:latin typeface="Trebuchet MS" panose="020B0603020202020204" pitchFamily="34" charset="0"/>
              </a:rPr>
              <a:t>comprenant</a:t>
            </a:r>
            <a:r>
              <a:rPr lang="en-US" sz="1350" dirty="0">
                <a:solidFill>
                  <a:srgbClr val="666666"/>
                </a:solidFill>
                <a:latin typeface="Trebuchet MS" panose="020B0603020202020204" pitchFamily="34" charset="0"/>
              </a:rPr>
              <a:t> :</a:t>
            </a:r>
          </a:p>
          <a:p>
            <a:pPr marL="0" indent="0">
              <a:buNone/>
            </a:pPr>
            <a:endParaRPr lang="en-US" sz="1350" dirty="0">
              <a:latin typeface="Trebuchet MS" panose="020B0603020202020204" pitchFamily="34" charset="0"/>
            </a:endParaRP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15BEFB2B-DE19-3657-F375-B5EF58FB9A62}"/>
              </a:ext>
            </a:extLst>
          </p:cNvPr>
          <p:cNvSpPr/>
          <p:nvPr/>
        </p:nvSpPr>
        <p:spPr>
          <a:xfrm>
            <a:off x="856080" y="2863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350" dirty="0">
                <a:solidFill>
                  <a:srgbClr val="666666"/>
                </a:solidFill>
                <a:latin typeface="Trebuchet MS" panose="020B0603020202020204" pitchFamily="34" charset="0"/>
              </a:rPr>
              <a:t>• Reverse proxy
</a:t>
            </a:r>
            <a:endParaRPr lang="en-US" sz="135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350" dirty="0">
                <a:solidFill>
                  <a:srgbClr val="666666"/>
                </a:solidFill>
                <a:latin typeface="Trebuchet MS" panose="020B0603020202020204" pitchFamily="34" charset="0"/>
              </a:rPr>
              <a:t>• Serveur d'application
</a:t>
            </a:r>
            <a:endParaRPr lang="en-US" sz="135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350" dirty="0">
                <a:solidFill>
                  <a:srgbClr val="666666"/>
                </a:solidFill>
                <a:latin typeface="Trebuchet MS" panose="020B0603020202020204" pitchFamily="34" charset="0"/>
              </a:rPr>
              <a:t>• Base de données
</a:t>
            </a:r>
            <a:endParaRPr lang="en-US" sz="135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350" dirty="0">
                <a:solidFill>
                  <a:srgbClr val="666666"/>
                </a:solidFill>
                <a:latin typeface="Trebuchet MS" panose="020B0603020202020204" pitchFamily="34" charset="0"/>
              </a:rPr>
              <a:t>• Stack ELK (logging centralisé)</a:t>
            </a:r>
            <a:endParaRPr lang="en-US" sz="1350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4794E-534D-F23A-83D3-80289B3C8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PlaceHolder 1">
            <a:extLst>
              <a:ext uri="{FF2B5EF4-FFF2-40B4-BE49-F238E27FC236}">
                <a16:creationId xmlns:a16="http://schemas.microsoft.com/office/drawing/2014/main" id="{328BF92A-DDF7-8DC3-442B-88B2C00D1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032760" cy="1022400"/>
          </a:xfrm>
          <a:prstGeom prst="rect">
            <a:avLst/>
          </a:prstGeom>
          <a:solidFill>
            <a:srgbClr val="2C3C43"/>
          </a:solidFill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700" b="0" u="none" strike="noStrike">
                <a:solidFill>
                  <a:srgbClr val="FFFFFF"/>
                </a:solidFill>
                <a:effectLst/>
                <a:uFillTx/>
                <a:latin typeface="Trebuchet MS"/>
                <a:ea typeface="DejaVu Sans"/>
              </a:rPr>
              <a:t>Partie 1</a:t>
            </a:r>
            <a:r>
              <a:rPr lang="fr-FR" sz="1800" b="0" u="none" strike="noStrike">
                <a:solidFill>
                  <a:srgbClr val="FFFFFF"/>
                </a:solidFill>
                <a:effectLst/>
                <a:uFillTx/>
                <a:latin typeface="Trebuchet MS"/>
                <a:ea typeface="DejaVu Sans"/>
              </a:rPr>
              <a:t> </a:t>
            </a:r>
            <a:r>
              <a:rPr lang="fr-FR" sz="1600" b="0" u="none" strike="noStrike">
                <a:solidFill>
                  <a:srgbClr val="BFBFBF"/>
                </a:solidFill>
                <a:effectLst/>
                <a:uFillTx/>
                <a:latin typeface="Trebuchet MS"/>
                <a:ea typeface="DejaVu Sans"/>
              </a:rPr>
              <a:t>(10 points)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1" name="PlaceHolder 2">
            <a:extLst>
              <a:ext uri="{FF2B5EF4-FFF2-40B4-BE49-F238E27FC236}">
                <a16:creationId xmlns:a16="http://schemas.microsoft.com/office/drawing/2014/main" id="{FAE4F79D-1756-46E1-FF9F-21E1248A7C8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56080" y="1686960"/>
            <a:ext cx="7083360" cy="1070453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228600" indent="0" defTabSz="9144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fr-FR" sz="1350" b="0" u="none" strike="noStrike" dirty="0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Grâce aux technologies choisies parmi les combinaisons proposées sur Moodle, nous aimerions réaliser l'architecture décrite par le schéma ci-après.</a:t>
            </a:r>
            <a:endParaRPr lang="fr-FR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fr-FR" sz="1350" b="0" u="none" strike="noStrike" dirty="0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Cette architecture permet de proposer un écosystème technique industrialisé pour l'application Java EE développée dans un autre module</a:t>
            </a:r>
            <a:endParaRPr lang="fr-FR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</a:pPr>
            <a:endParaRPr lang="fr-FR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F72B5371-B2B8-8CE8-9ED3-DC69792F0498}"/>
              </a:ext>
            </a:extLst>
          </p:cNvPr>
          <p:cNvSpPr/>
          <p:nvPr/>
        </p:nvSpPr>
        <p:spPr>
          <a:xfrm>
            <a:off x="1082593" y="269061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6666"/>
                </a:solidFill>
                <a:latin typeface="Trebuchet MS" panose="020B0603020202020204" pitchFamily="34" charset="0"/>
              </a:rPr>
              <a:t>Stack complète avec :</a:t>
            </a:r>
            <a:endParaRPr lang="en-US" sz="1350" dirty="0">
              <a:latin typeface="Trebuchet MS" panose="020B0603020202020204" pitchFamily="34" charset="0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01021E5F-12E0-7F77-62A8-1D8FAD5CA6A5}"/>
              </a:ext>
            </a:extLst>
          </p:cNvPr>
          <p:cNvSpPr/>
          <p:nvPr/>
        </p:nvSpPr>
        <p:spPr>
          <a:xfrm>
            <a:off x="1248417" y="3063972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350" b="1" dirty="0">
                <a:solidFill>
                  <a:srgbClr val="333333"/>
                </a:solidFill>
                <a:latin typeface="Trebuchet MS" panose="020B0603020202020204" pitchFamily="34" charset="0"/>
              </a:rPr>
              <a:t>• Client → Reverse Proxy
</a:t>
            </a:r>
            <a:endParaRPr lang="en-US" sz="135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350" b="1" dirty="0">
                <a:solidFill>
                  <a:srgbClr val="333333"/>
                </a:solidFill>
                <a:latin typeface="Trebuchet MS" panose="020B0603020202020204" pitchFamily="34" charset="0"/>
              </a:rPr>
              <a:t>• Reverse Proxy → App Server
</a:t>
            </a:r>
            <a:endParaRPr lang="en-US" sz="135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350" b="1" dirty="0">
                <a:solidFill>
                  <a:srgbClr val="333333"/>
                </a:solidFill>
                <a:latin typeface="Trebuchet MS" panose="020B0603020202020204" pitchFamily="34" charset="0"/>
              </a:rPr>
              <a:t>• App Server → Database
</a:t>
            </a:r>
            <a:endParaRPr lang="en-US" sz="135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350" b="1" dirty="0">
                <a:solidFill>
                  <a:srgbClr val="333333"/>
                </a:solidFill>
                <a:latin typeface="Trebuchet MS" panose="020B0603020202020204" pitchFamily="34" charset="0"/>
              </a:rPr>
              <a:t>• App Server → ELK Stack (logs)</a:t>
            </a:r>
            <a:endParaRPr lang="en-US" sz="1350" dirty="0">
              <a:latin typeface="Trebuchet MS" panose="020B0603020202020204" pitchFamily="34" charset="0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78CD1AC9-4FC7-E4DA-9F01-D2996D60C3CD}"/>
              </a:ext>
            </a:extLst>
          </p:cNvPr>
          <p:cNvSpPr/>
          <p:nvPr/>
        </p:nvSpPr>
        <p:spPr>
          <a:xfrm>
            <a:off x="1082593" y="455067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Trebuchet MS" panose="020B0603020202020204" pitchFamily="34" charset="0"/>
              </a:rPr>
              <a:t>Tout doit être accessible via docker-compose up -d</a:t>
            </a:r>
            <a:endParaRPr lang="en-US" sz="13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08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Image 2"/>
          <p:cNvPicPr/>
          <p:nvPr/>
        </p:nvPicPr>
        <p:blipFill>
          <a:blip r:embed="rId2"/>
          <a:stretch/>
        </p:blipFill>
        <p:spPr>
          <a:xfrm>
            <a:off x="1081080" y="0"/>
            <a:ext cx="6975360" cy="5137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4FBDC-5977-7F09-9098-7A4D24330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91385EB-8C4D-8EE4-78DE-CFB12A6C03AF}"/>
              </a:ext>
            </a:extLst>
          </p:cNvPr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Exigences Docker Compose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1FFA0EF-72E2-4B01-244E-74595301DB72}"/>
              </a:ext>
            </a:extLst>
          </p:cNvPr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Fichier structuré et commenté
</a:t>
            </a:r>
            <a:endParaRPr lang="en-US" sz="150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Variables d'environnement (.env)
</a:t>
            </a:r>
            <a:endParaRPr lang="en-US" sz="150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Networks dédiés
</a:t>
            </a:r>
            <a:endParaRPr lang="en-US" sz="150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Volumes nommés (pas anonymes)
</a:t>
            </a:r>
            <a:endParaRPr lang="en-US" sz="150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Configuration production-ready</a:t>
            </a:r>
            <a:endParaRPr lang="en-US" sz="15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779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6B447-0ADF-6B6D-E171-430844E95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55F3970B-933F-EFC8-5A5C-BC7646059F83}"/>
              </a:ext>
            </a:extLst>
          </p:cNvPr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Images Docker - Optimisation</a:t>
            </a:r>
            <a:endParaRPr lang="en-US" sz="3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3DB47D8-B9C6-E9A8-7D67-9273623FEB8B}"/>
              </a:ext>
            </a:extLst>
          </p:cNvPr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</a:t>
            </a:r>
            <a:r>
              <a:rPr lang="en-US" sz="1500" b="1" dirty="0">
                <a:solidFill>
                  <a:srgbClr val="333333"/>
                </a:solidFill>
                <a:latin typeface="Trebuchet MS" panose="020B0603020202020204" pitchFamily="34" charset="0"/>
              </a:rPr>
              <a:t>Multi-stage builds</a:t>
            </a: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 obligatoires
</a:t>
            </a:r>
            <a:endParaRPr lang="en-US" sz="150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Application : </a:t>
            </a:r>
            <a:r>
              <a:rPr lang="en-US" sz="1500" b="1" dirty="0">
                <a:solidFill>
                  <a:srgbClr val="333333"/>
                </a:solidFill>
                <a:latin typeface="Trebuchet MS" panose="020B0603020202020204" pitchFamily="34" charset="0"/>
              </a:rPr>
              <a:t>&lt; 500MB
</a:t>
            </a:r>
            <a:endParaRPr lang="en-US" sz="150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Services : </a:t>
            </a:r>
            <a:r>
              <a:rPr lang="en-US" sz="1500" b="1" dirty="0">
                <a:solidFill>
                  <a:srgbClr val="333333"/>
                </a:solidFill>
                <a:latin typeface="Trebuchet MS" panose="020B0603020202020204" pitchFamily="34" charset="0"/>
              </a:rPr>
              <a:t>&lt; 200MB
</a:t>
            </a:r>
            <a:endParaRPr lang="en-US" sz="150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.dockerignore configuré
</a:t>
            </a:r>
            <a:endParaRPr lang="en-US" sz="150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Pas de secrets hardcodés</a:t>
            </a:r>
            <a:endParaRPr lang="en-US" sz="15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286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Checks &amp; Restart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Health checks sur </a:t>
            </a:r>
            <a:r>
              <a:rPr lang="en-US" sz="1500" b="1" dirty="0">
                <a:solidFill>
                  <a:srgbClr val="333333"/>
                </a:solidFill>
                <a:latin typeface="Trebuchet MS" panose="020B0603020202020204" pitchFamily="34" charset="0"/>
              </a:rPr>
              <a:t>tous</a:t>
            </a: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 les services
</a:t>
            </a:r>
            <a:endParaRPr lang="en-US" sz="150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Restart policies appropriées
</a:t>
            </a:r>
            <a:endParaRPr lang="en-US" sz="150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depends_on avec conditions
</a:t>
            </a:r>
            <a:endParaRPr lang="en-US" sz="150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Temps de démarrage optimisés</a:t>
            </a:r>
            <a:endParaRPr lang="en-US" sz="1500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 Management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Limites CPU définies
</a:t>
            </a:r>
            <a:endParaRPr lang="en-US" sz="150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Limites RAM définies
</a:t>
            </a:r>
            <a:endParaRPr lang="en-US" sz="150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Prévention resource starvation
</a:t>
            </a:r>
            <a:endParaRPr lang="en-US" sz="150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Monitoring des ressources</a:t>
            </a:r>
            <a:endParaRPr lang="en-US" sz="1500" dirty="0">
              <a:latin typeface="Trebuchet MS" panose="020B06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Utilisez deploy.resources.limits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Logging Structuré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Format </a:t>
            </a:r>
            <a:r>
              <a:rPr lang="en-US" sz="1500" b="1" dirty="0">
                <a:solidFill>
                  <a:srgbClr val="333333"/>
                </a:solidFill>
                <a:latin typeface="Trebuchet MS" panose="020B0603020202020204" pitchFamily="34" charset="0"/>
              </a:rPr>
              <a:t>JSON
</a:t>
            </a:r>
            <a:endParaRPr lang="en-US" sz="150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Collecte par </a:t>
            </a:r>
            <a:r>
              <a:rPr lang="en-US" sz="1500" b="1" dirty="0">
                <a:solidFill>
                  <a:srgbClr val="333333"/>
                </a:solidFill>
                <a:latin typeface="Trebuchet MS" panose="020B0603020202020204" pitchFamily="34" charset="0"/>
              </a:rPr>
              <a:t>Logstash
</a:t>
            </a:r>
            <a:endParaRPr lang="en-US" sz="150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Visualisation </a:t>
            </a:r>
            <a:r>
              <a:rPr lang="en-US" sz="1500" b="1" dirty="0">
                <a:solidFill>
                  <a:srgbClr val="333333"/>
                </a:solidFill>
                <a:latin typeface="Trebuchet MS" panose="020B0603020202020204" pitchFamily="34" charset="0"/>
              </a:rPr>
              <a:t>Kibana
</a:t>
            </a:r>
            <a:endParaRPr lang="en-US" sz="150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Retention policy</a:t>
            </a:r>
            <a:endParaRPr lang="en-US" sz="1500" dirty="0">
              <a:latin typeface="Trebuchet MS" panose="020B06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</a:rPr>
              <a:t>Les logs doivent être exploitables et recherchables facilement.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Sécurité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Pas d'exécution en </a:t>
            </a:r>
            <a:r>
              <a:rPr lang="en-US" sz="1500" b="1" dirty="0">
                <a:solidFill>
                  <a:srgbClr val="333333"/>
                </a:solidFill>
                <a:latin typeface="Trebuchet MS" panose="020B0603020202020204" pitchFamily="34" charset="0"/>
              </a:rPr>
              <a:t>root
</a:t>
            </a:r>
            <a:endParaRPr lang="en-US" sz="150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Secrets gérés (pas en .env committé)
</a:t>
            </a:r>
            <a:endParaRPr lang="en-US" sz="150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</a:t>
            </a:r>
            <a:r>
              <a:rPr lang="en-US" sz="1500" b="1" dirty="0">
                <a:solidFill>
                  <a:srgbClr val="333333"/>
                </a:solidFill>
                <a:latin typeface="Trebuchet MS" panose="020B0603020202020204" pitchFamily="34" charset="0"/>
              </a:rPr>
              <a:t>Trivy</a:t>
            </a: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 scanning
</a:t>
            </a:r>
            <a:endParaRPr lang="en-US" sz="150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Principe du moindre privilège</a:t>
            </a:r>
            <a:endParaRPr lang="en-US" sz="1500" dirty="0">
              <a:latin typeface="Trebuchet MS" panose="020B06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3A3A"/>
                </a:solidFill>
              </a:rPr>
              <a:t>⚠️ .env ne doit JAMAIS être committé !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Documentation README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</a:t>
            </a:r>
            <a:r>
              <a:rPr lang="en-US" sz="1500" b="1" dirty="0">
                <a:solidFill>
                  <a:srgbClr val="333333"/>
                </a:solidFill>
                <a:latin typeface="Trebuchet MS" panose="020B0603020202020204" pitchFamily="34" charset="0"/>
              </a:rPr>
              <a:t>Architecture</a:t>
            </a: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 (avec schéma)
</a:t>
            </a:r>
            <a:endParaRPr lang="en-US" sz="150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</a:t>
            </a:r>
            <a:r>
              <a:rPr lang="en-US" sz="1500" b="1" dirty="0">
                <a:solidFill>
                  <a:srgbClr val="333333"/>
                </a:solidFill>
                <a:latin typeface="Trebuchet MS" panose="020B0603020202020204" pitchFamily="34" charset="0"/>
              </a:rPr>
              <a:t>Prérequis</a:t>
            </a: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 système
</a:t>
            </a:r>
            <a:endParaRPr lang="en-US" sz="150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</a:t>
            </a:r>
            <a:r>
              <a:rPr lang="en-US" sz="1500" b="1" dirty="0">
                <a:solidFill>
                  <a:srgbClr val="333333"/>
                </a:solidFill>
                <a:latin typeface="Trebuchet MS" panose="020B0603020202020204" pitchFamily="34" charset="0"/>
              </a:rPr>
              <a:t>Configuration</a:t>
            </a: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 requise
</a:t>
            </a:r>
            <a:endParaRPr lang="en-US" sz="150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</a:t>
            </a:r>
            <a:r>
              <a:rPr lang="en-US" sz="1500" b="1" dirty="0">
                <a:solidFill>
                  <a:srgbClr val="333333"/>
                </a:solidFill>
                <a:latin typeface="Trebuchet MS" panose="020B0603020202020204" pitchFamily="34" charset="0"/>
              </a:rPr>
              <a:t>Procédure</a:t>
            </a: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 de démarrage
</a:t>
            </a:r>
            <a:endParaRPr lang="en-US" sz="150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</a:t>
            </a:r>
            <a:r>
              <a:rPr lang="en-US" sz="1500" b="1" dirty="0">
                <a:solidFill>
                  <a:srgbClr val="333333"/>
                </a:solidFill>
                <a:latin typeface="Trebuchet MS" panose="020B0603020202020204" pitchFamily="34" charset="0"/>
              </a:rPr>
              <a:t>Troubleshooting</a:t>
            </a:r>
            <a:endParaRPr lang="en-US" sz="1500" dirty="0">
              <a:latin typeface="Trebuchet MS" panose="020B06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Documentation au fur et à mesure, pas à la fin !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PlaceHolder 1"/>
          <p:cNvSpPr>
            <a:spLocks noGrp="1"/>
          </p:cNvSpPr>
          <p:nvPr>
            <p:ph type="title"/>
          </p:nvPr>
        </p:nvSpPr>
        <p:spPr>
          <a:xfrm>
            <a:off x="507960" y="457200"/>
            <a:ext cx="6441120" cy="984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70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Partie 1</a:t>
            </a:r>
            <a:endParaRPr lang="fr-F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PlaceHolder 2"/>
          <p:cNvSpPr>
            <a:spLocks noGrp="1"/>
          </p:cNvSpPr>
          <p:nvPr>
            <p:ph/>
          </p:nvPr>
        </p:nvSpPr>
        <p:spPr>
          <a:xfrm>
            <a:off x="856080" y="1686960"/>
            <a:ext cx="7422840" cy="3180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228600" indent="0" defTabSz="9144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Une fois que tout est monté et fonctionnel, vous devez être en mesure d'utiliser l'application web à partir de son URL. De plus, vous pourrez jouer avec Kibana pour avoir un aperçu de l'utilisation de votre application.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</a:pP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Cette architecture doit pouvoir être lancée via </a:t>
            </a:r>
            <a:r>
              <a:rPr lang="fr-FR" sz="1350" b="0" u="none" strike="noStrike">
                <a:solidFill>
                  <a:srgbClr val="42D0A2"/>
                </a:solidFill>
                <a:effectLst/>
                <a:uFillTx/>
                <a:latin typeface="Consolas"/>
                <a:ea typeface="DejaVu Sans"/>
              </a:rPr>
              <a:t>docker-compose up -d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Pour chacun des blocs du schéma, vous devez proposer une solution basée sur un container Docker. 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Libre à vous de créer des Dockerfile particuliers si nécessaire.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Lorsque le port TCP/UDP n'est pas signalé, vous êtes libres de vos choix.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Référez-vous aux différents TPs réalisés pour proposer la meilleure solution. Internet est aussi votre meilleur ami bien évidemment.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</a:pP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Grille d'Évaluation (10 points)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604251"/>
              </p:ext>
            </p:extLst>
          </p:nvPr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anose="020B0603020202020204" pitchFamily="34" charset="0"/>
                        </a:rPr>
                        <a:t>Critère</a:t>
                      </a:r>
                      <a:endParaRPr lang="en-US" sz="14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6C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anose="020B0603020202020204" pitchFamily="34" charset="0"/>
                        </a:rPr>
                        <a:t>Points</a:t>
                      </a:r>
                      <a:endParaRPr lang="en-US" sz="14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6C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rebuchet MS" panose="020B0603020202020204" pitchFamily="34" charset="0"/>
                        </a:rPr>
                        <a:t>Architecture fonctionnelle</a:t>
                      </a:r>
                      <a:endParaRPr lang="en-US" sz="14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rebuchet MS" panose="020B0603020202020204" pitchFamily="34" charset="0"/>
                        </a:rPr>
                        <a:t>3 pts</a:t>
                      </a:r>
                      <a:endParaRPr lang="en-US" sz="14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rebuchet MS" panose="020B0603020202020204" pitchFamily="34" charset="0"/>
                        </a:rPr>
                        <a:t>Qualité technique</a:t>
                      </a:r>
                      <a:endParaRPr lang="en-US" sz="14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rebuchet MS" panose="020B0603020202020204" pitchFamily="34" charset="0"/>
                        </a:rPr>
                        <a:t>3 pts</a:t>
                      </a:r>
                      <a:endParaRPr lang="en-US" sz="14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rebuchet MS" panose="020B0603020202020204" pitchFamily="34" charset="0"/>
                        </a:rPr>
                        <a:t>Documentation</a:t>
                      </a:r>
                      <a:endParaRPr lang="en-US" sz="14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rebuchet MS" panose="020B0603020202020204" pitchFamily="34" charset="0"/>
                        </a:rPr>
                        <a:t>2 pts</a:t>
                      </a:r>
                      <a:endParaRPr lang="en-US" sz="14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rebuchet MS" panose="020B0603020202020204" pitchFamily="34" charset="0"/>
                        </a:rPr>
                        <a:t>Bonnes pratiques</a:t>
                      </a:r>
                      <a:endParaRPr lang="en-US" sz="14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rebuchet MS" panose="020B0603020202020204" pitchFamily="34" charset="0"/>
                        </a:rPr>
                        <a:t>2 pts</a:t>
                      </a:r>
                      <a:endParaRPr lang="en-US" sz="14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Trebuchet MS" panose="020B0603020202020204" pitchFamily="34" charset="0"/>
                        </a:rPr>
                        <a:t>TOTAL</a:t>
                      </a:r>
                      <a:endParaRPr lang="en-US" sz="14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Trebuchet MS" panose="020B0603020202020204" pitchFamily="34" charset="0"/>
                        </a:rPr>
                        <a:t>10 pts</a:t>
                      </a:r>
                      <a:endParaRPr lang="en-US" sz="14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Compléments valorisés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6C9E"/>
                </a:solidFill>
              </a:rPr>
              <a:t>Permettent de compenser les points manquants et d'atteindre 10/10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137441"/>
              </p:ext>
            </p:extLst>
          </p:nvPr>
        </p:nvGraphicFramePr>
        <p:xfrm>
          <a:off x="457200" y="1554480"/>
          <a:ext cx="8229600" cy="19507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anose="020B0603020202020204" pitchFamily="34" charset="0"/>
                        </a:rPr>
                        <a:t>Complément</a:t>
                      </a:r>
                      <a:endParaRPr lang="en-US" sz="13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6C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anose="020B0603020202020204" pitchFamily="34" charset="0"/>
                        </a:rPr>
                        <a:t>Points</a:t>
                      </a:r>
                      <a:endParaRPr lang="en-US" sz="13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6C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Trebuchet MS" panose="020B0603020202020204" pitchFamily="34" charset="0"/>
                        </a:rPr>
                        <a:t>Observabilité (Prometheus + Grafana)</a:t>
                      </a:r>
                      <a:endParaRPr lang="en-US" sz="13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Trebuchet MS" panose="020B0603020202020204" pitchFamily="34" charset="0"/>
                        </a:rPr>
                        <a:t>+1 pt</a:t>
                      </a:r>
                      <a:endParaRPr lang="en-US" sz="13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Trebuchet MS" panose="020B0603020202020204" pitchFamily="34" charset="0"/>
                        </a:rPr>
                        <a:t>Pipeline validation (Goss)</a:t>
                      </a:r>
                      <a:endParaRPr lang="en-US" sz="13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Trebuchet MS" panose="020B0603020202020204" pitchFamily="34" charset="0"/>
                        </a:rPr>
                        <a:t>+1 pt</a:t>
                      </a:r>
                      <a:endParaRPr lang="en-US" sz="13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Trebuchet MS" panose="020B0603020202020204" pitchFamily="34" charset="0"/>
                        </a:rPr>
                        <a:t>Gestion auto dépendances (Updatecli/Renovate/Dependabot)</a:t>
                      </a:r>
                      <a:endParaRPr lang="en-US" sz="13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Trebuchet MS" panose="020B0603020202020204" pitchFamily="34" charset="0"/>
                        </a:rPr>
                        <a:t>+0.75 pt</a:t>
                      </a:r>
                      <a:endParaRPr lang="en-US" sz="13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Trebuchet MS" panose="020B0603020202020204" pitchFamily="34" charset="0"/>
                        </a:rPr>
                        <a:t>Performance &amp; Load Testing (k6/Gatling)</a:t>
                      </a:r>
                      <a:endParaRPr lang="en-US" sz="13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Trebuchet MS" panose="020B0603020202020204" pitchFamily="34" charset="0"/>
                        </a:rPr>
                        <a:t>+1 pt</a:t>
                      </a:r>
                      <a:endParaRPr lang="en-US" sz="13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Compléments valorisés (suite)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635473"/>
              </p:ext>
            </p:extLst>
          </p:nvPr>
        </p:nvGraphicFramePr>
        <p:xfrm>
          <a:off x="457200" y="1188720"/>
          <a:ext cx="8229600" cy="13716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anose="020B0603020202020204" pitchFamily="34" charset="0"/>
                        </a:rPr>
                        <a:t>Complément</a:t>
                      </a:r>
                      <a:endParaRPr lang="en-US" sz="13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6C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anose="020B0603020202020204" pitchFamily="34" charset="0"/>
                        </a:rPr>
                        <a:t>Points</a:t>
                      </a:r>
                      <a:endParaRPr lang="en-US" sz="13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6C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Trebuchet MS" panose="020B0603020202020204" pitchFamily="34" charset="0"/>
                        </a:rPr>
                        <a:t>Haute disponibilité</a:t>
                      </a:r>
                      <a:endParaRPr lang="en-US" sz="13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Trebuchet MS" panose="020B0603020202020204" pitchFamily="34" charset="0"/>
                        </a:rPr>
                        <a:t>+1 pt</a:t>
                      </a:r>
                      <a:endParaRPr lang="en-US" sz="13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Trebuchet MS" panose="020B0603020202020204" pitchFamily="34" charset="0"/>
                        </a:rPr>
                        <a:t>Multi-environnements (Dev/Staging/Prod)</a:t>
                      </a:r>
                      <a:endParaRPr lang="en-US" sz="13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Trebuchet MS" panose="020B0603020202020204" pitchFamily="34" charset="0"/>
                        </a:rPr>
                        <a:t>+0.75 pt</a:t>
                      </a:r>
                      <a:endParaRPr lang="en-US" sz="13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Trebuchet MS" panose="020B0603020202020204" pitchFamily="34" charset="0"/>
                        </a:rPr>
                        <a:t>Forge GitLab auto-hébergée</a:t>
                      </a:r>
                      <a:endParaRPr lang="en-US" sz="13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Trebuchet MS" panose="020B0603020202020204" pitchFamily="34" charset="0"/>
                        </a:rPr>
                        <a:t>+1.5 pts</a:t>
                      </a:r>
                      <a:endParaRPr lang="en-US" sz="13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86C9E"/>
                </a:solidFill>
              </a:rPr>
              <a:t>Note Partie 1 = min(10, Critères + Compléments)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Qualité &gt; Quantité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33333"/>
                </a:solidFill>
              </a:rPr>
              <a:t>Il vaut mieux 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33333"/>
                </a:solidFill>
                <a:latin typeface="Trebuchet MS" panose="020B0603020202020204" pitchFamily="34" charset="0"/>
              </a:rPr>
              <a:t>✓ 1-2 compléments </a:t>
            </a:r>
            <a:r>
              <a:rPr lang="en-US" sz="1800" b="1" dirty="0">
                <a:solidFill>
                  <a:srgbClr val="333333"/>
                </a:solidFill>
                <a:latin typeface="Trebuchet MS" panose="020B0603020202020204" pitchFamily="34" charset="0"/>
              </a:rPr>
              <a:t>de qualité
</a:t>
            </a:r>
            <a:r>
              <a:rPr lang="en-US" sz="1800" dirty="0">
                <a:solidFill>
                  <a:srgbClr val="333333"/>
                </a:solidFill>
                <a:latin typeface="Trebuchet MS" panose="020B0603020202020204" pitchFamily="34" charset="0"/>
              </a:rPr>
              <a:t>✗ 4 compléments </a:t>
            </a:r>
            <a:r>
              <a:rPr lang="en-US" sz="1800" b="1" dirty="0">
                <a:solidFill>
                  <a:srgbClr val="333333"/>
                </a:solidFill>
                <a:latin typeface="Trebuchet MS" panose="020B0603020202020204" pitchFamily="34" charset="0"/>
              </a:rPr>
              <a:t>bâclés</a:t>
            </a:r>
            <a:endParaRPr lang="en-US" sz="1800" dirty="0">
              <a:latin typeface="Trebuchet MS" panose="020B0603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86C9E"/>
                </a:solidFill>
                <a:latin typeface="Trebuchet MS" panose="020B0603020202020204" pitchFamily="34" charset="0"/>
              </a:rPr>
              <a:t>Les compléments servent à compenser les points perdus sur les critères principaux</a:t>
            </a:r>
            <a:endParaRPr lang="en-US" sz="1400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Modalités générales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Projet réalisé en </a:t>
            </a:r>
            <a:r>
              <a:rPr lang="en-US" sz="1500" b="1" dirty="0">
                <a:solidFill>
                  <a:srgbClr val="333333"/>
                </a:solidFill>
                <a:latin typeface="Trebuchet MS" panose="020B0603020202020204" pitchFamily="34" charset="0"/>
              </a:rPr>
              <a:t>binôme
</a:t>
            </a:r>
            <a:endParaRPr lang="en-US" sz="150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Remise via </a:t>
            </a:r>
            <a:r>
              <a:rPr lang="en-US" sz="1500" b="1" dirty="0">
                <a:solidFill>
                  <a:srgbClr val="333333"/>
                </a:solidFill>
                <a:latin typeface="Trebuchet MS" panose="020B0603020202020204" pitchFamily="34" charset="0"/>
              </a:rPr>
              <a:t>repo GitLab privé
</a:t>
            </a:r>
            <a:endParaRPr lang="en-US" sz="150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Ajouter les enseignants comme contributeurs
</a:t>
            </a:r>
            <a:endParaRPr lang="en-US" sz="1500" dirty="0">
              <a:latin typeface="Trebuchet MS" panose="020B0603020202020204" pitchFamily="34" charset="0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333333"/>
                </a:solidFill>
                <a:latin typeface="Trebuchet MS" panose="020B0603020202020204" pitchFamily="34" charset="0"/>
              </a:rPr>
              <a:t>• Documentation via </a:t>
            </a:r>
            <a:r>
              <a:rPr lang="en-US" sz="1500" b="1" dirty="0">
                <a:solidFill>
                  <a:srgbClr val="333333"/>
                </a:solidFill>
                <a:latin typeface="Trebuchet MS" panose="020B0603020202020204" pitchFamily="34" charset="0"/>
              </a:rPr>
              <a:t>README</a:t>
            </a:r>
            <a:endParaRPr lang="en-US" sz="1500" dirty="0">
              <a:latin typeface="Trebuchet MS" panose="020B06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Trebuchet MS" panose="020B0603020202020204" pitchFamily="34" charset="0"/>
              </a:rPr>
              <a:t>Toute documentation, tout commentaire, tout complément d'information doivent se faire via le README de votre repo.</a:t>
            </a:r>
            <a:endParaRPr lang="en-US" sz="1400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title"/>
          </p:nvPr>
        </p:nvSpPr>
        <p:spPr>
          <a:xfrm>
            <a:off x="507960" y="457200"/>
            <a:ext cx="6441120" cy="984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70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Partie 1                          Communication</a:t>
            </a:r>
            <a:endParaRPr lang="fr-F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PlaceHolder 2"/>
          <p:cNvSpPr>
            <a:spLocks noGrp="1"/>
          </p:cNvSpPr>
          <p:nvPr>
            <p:ph/>
          </p:nvPr>
        </p:nvSpPr>
        <p:spPr>
          <a:xfrm>
            <a:off x="856080" y="1686960"/>
            <a:ext cx="7422840" cy="3180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228600" indent="0" defTabSz="9144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fr-FR" sz="135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Dans l’introduction, il est écrit: « </a:t>
            </a:r>
            <a:r>
              <a:rPr lang="fr-FR" sz="1350" b="0" u="none" strike="noStrike" dirty="0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 Toute documentation, tout commentaire, tout complément d'information, doivent se faire via le </a:t>
            </a:r>
            <a:r>
              <a:rPr lang="fr-FR" sz="1350" b="0" u="none" strike="noStrike" dirty="0">
                <a:solidFill>
                  <a:srgbClr val="404040"/>
                </a:solidFill>
                <a:effectLst/>
                <a:uFillTx/>
                <a:latin typeface="Consolas"/>
                <a:ea typeface="DejaVu Sans"/>
              </a:rPr>
              <a:t>README</a:t>
            </a:r>
            <a:r>
              <a:rPr lang="fr-FR" sz="1350" b="0" u="none" strike="noStrike" dirty="0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 de votre repo. »</a:t>
            </a:r>
            <a:endParaRPr lang="fr-FR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</a:pPr>
            <a:endParaRPr lang="fr-FR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fr-FR" sz="1350" b="0" u="none" strike="noStrike" dirty="0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Pour ma part, je vous encourage à faire des Merge </a:t>
            </a:r>
            <a:r>
              <a:rPr lang="fr-FR" sz="1350" b="0" u="none" strike="noStrike" dirty="0" err="1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Requests</a:t>
            </a:r>
            <a:r>
              <a:rPr lang="fr-FR" sz="1350" b="0" u="none" strike="noStrike" dirty="0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 sur votre propre repository, et à me mettre en </a:t>
            </a:r>
            <a:r>
              <a:rPr lang="fr-FR" sz="1350" b="0" u="none" strike="noStrike" dirty="0" err="1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reviewer</a:t>
            </a:r>
            <a:r>
              <a:rPr lang="fr-FR" sz="1350" b="0" u="none" strike="noStrike" dirty="0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.</a:t>
            </a:r>
            <a:br>
              <a:rPr sz="1350" dirty="0"/>
            </a:br>
            <a:r>
              <a:rPr lang="fr-FR" sz="1350" b="0" u="none" strike="noStrike" dirty="0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Si vous faites un commit sur votre branche </a:t>
            </a:r>
            <a:r>
              <a:rPr lang="fr-FR" sz="1350" b="0" u="none" strike="noStrike" dirty="0">
                <a:solidFill>
                  <a:srgbClr val="404040"/>
                </a:solidFill>
                <a:effectLst/>
                <a:uFillTx/>
                <a:latin typeface="Consolas"/>
                <a:ea typeface="DejaVu Sans"/>
              </a:rPr>
              <a:t>main</a:t>
            </a:r>
            <a:r>
              <a:rPr lang="fr-FR" sz="1350" b="0" u="none" strike="noStrike" dirty="0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 pour modifier votre </a:t>
            </a:r>
            <a:r>
              <a:rPr lang="fr-FR" sz="1350" b="0" u="none" strike="noStrike" dirty="0">
                <a:solidFill>
                  <a:srgbClr val="404040"/>
                </a:solidFill>
                <a:effectLst/>
                <a:uFillTx/>
                <a:latin typeface="Consolas"/>
                <a:ea typeface="DejaVu Sans"/>
              </a:rPr>
              <a:t>README</a:t>
            </a:r>
            <a:r>
              <a:rPr lang="fr-FR" sz="1350" b="0" u="none" strike="noStrike" dirty="0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, je n’en serai pas forcément tenu informé.</a:t>
            </a:r>
            <a:br>
              <a:rPr lang="fr-FR" sz="1350" b="0" u="none" strike="noStrike" dirty="0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</a:br>
            <a:r>
              <a:rPr lang="fr-FR" sz="1350" b="0" u="none" strike="noStrike" dirty="0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Je reste évidemment disponible par mail et par </a:t>
            </a:r>
            <a:r>
              <a:rPr lang="fr-FR" sz="1350" b="0" u="none" strike="noStrike" dirty="0" err="1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Mattermost</a:t>
            </a:r>
            <a:r>
              <a:rPr lang="fr-FR" sz="1350" b="0" u="none" strike="noStrike" dirty="0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.</a:t>
            </a:r>
            <a:endParaRPr lang="fr-FR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0760" cy="1022400"/>
          </a:xfrm>
          <a:prstGeom prst="rect">
            <a:avLst/>
          </a:prstGeom>
          <a:solidFill>
            <a:srgbClr val="2C3C43"/>
          </a:solidFill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700" b="0" u="none" strike="noStrike">
                <a:solidFill>
                  <a:srgbClr val="FFFFFF"/>
                </a:solidFill>
                <a:effectLst/>
                <a:uFillTx/>
                <a:latin typeface="Trebuchet MS"/>
                <a:ea typeface="DejaVu Sans"/>
              </a:rPr>
              <a:t>Partie 2</a:t>
            </a:r>
            <a:r>
              <a:rPr lang="fr-FR" sz="1800" b="0" u="none" strike="noStrike">
                <a:solidFill>
                  <a:srgbClr val="FFFFFF"/>
                </a:solidFill>
                <a:effectLst/>
                <a:uFillTx/>
                <a:latin typeface="Trebuchet MS"/>
                <a:ea typeface="DejaVu Sans"/>
              </a:rPr>
              <a:t> </a:t>
            </a:r>
            <a:r>
              <a:rPr lang="fr-FR" sz="1600" b="0" u="none" strike="noStrike">
                <a:solidFill>
                  <a:srgbClr val="BFBFBF"/>
                </a:solidFill>
                <a:effectLst/>
                <a:uFillTx/>
                <a:latin typeface="Trebuchet MS"/>
                <a:ea typeface="DejaVu Sans"/>
              </a:rPr>
              <a:t>(10 points)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4" name="PlaceHolder 2"/>
          <p:cNvSpPr>
            <a:spLocks noGrp="1"/>
          </p:cNvSpPr>
          <p:nvPr>
            <p:ph/>
          </p:nvPr>
        </p:nvSpPr>
        <p:spPr>
          <a:xfrm>
            <a:off x="394200" y="1080000"/>
            <a:ext cx="8601120" cy="2904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248760" indent="-248760" defTabSz="914400">
              <a:lnSpc>
                <a:spcPct val="100000"/>
              </a:lnSpc>
              <a:spcBef>
                <a:spcPts val="75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Le code base (</a:t>
            </a:r>
            <a:r>
              <a:rPr lang="fr-FR" sz="1350" b="1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apps</a:t>
            </a: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) sera un fork de l’application starter (aplha ou beta) utilisée lors de la dernière séance (mais attention, application terminée, cad avec toutes les US/issues OK), n’oubliez pas de me mettre « maintener » de votre projet forké.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8760" indent="-24876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Mettre en place des pipelines sur 2 projets GitLab-CI différents (apps, ops) et un autre projet de components (mutualiser les jobs en les regroupant dans un seul projet gitlab privé de components).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8760" indent="-248760" defTabSz="914400">
              <a:lnSpc>
                <a:spcPct val="100000"/>
              </a:lnSpc>
              <a:spcBef>
                <a:spcPts val="751"/>
              </a:spcBef>
              <a:buClr>
                <a:srgbClr val="5FCBEF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Privilégiez l’utilisation des services de l’Université d’Artois :     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38080" lvl="1" indent="-31428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OpenSymbol"/>
              <a:buAutoNum type="arabicParenR"/>
              <a:tabLst>
                <a:tab pos="0" algn="l"/>
              </a:tabLst>
            </a:pP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Le mirror nexus suivant pour les builds : </a:t>
            </a:r>
            <a:r>
              <a:rPr lang="fr-FR" sz="1350" b="0" u="sng" strike="noStrike">
                <a:solidFill>
                  <a:srgbClr val="3FCDE7"/>
                </a:solidFill>
                <a:effectLst/>
                <a:uFillTx/>
                <a:latin typeface="Trebuchet MS"/>
                <a:ea typeface="DejaVu Sans"/>
                <a:hlinkClick r:id="rId2"/>
              </a:rPr>
              <a:t>http://nexus.etu-k8s.lan/repository/maven-public/</a:t>
            </a:r>
            <a:r>
              <a:rPr lang="fr-FR" sz="1350" b="0" u="none" strike="noStrike">
                <a:solidFill>
                  <a:srgbClr val="000000"/>
                </a:solidFill>
                <a:effectLst/>
                <a:uFillTx/>
                <a:latin typeface="Trebuchet MS"/>
                <a:ea typeface="DejaVu Sans"/>
              </a:rPr>
              <a:t> (</a:t>
            </a: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voir fichier .m2/settings-nexus-artois.xml)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38080" lvl="1" indent="-31428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OpenSymbol"/>
              <a:buAutoNum type="arabicParenR"/>
              <a:tabLst>
                <a:tab pos="0" algn="l"/>
              </a:tabLst>
            </a:pP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Le runner suivant : k8s-etu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38080" lvl="1" indent="-31428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OpenSymbol"/>
              <a:buAutoNum type="arabicParenR"/>
              <a:tabLst>
                <a:tab pos="0" algn="l"/>
              </a:tabLst>
            </a:pP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Registry de conteneurs (proxy) : registry.etu-k8s.lan/docker-hub/ (afin d'éviter le rate limit du docker hub)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8760" indent="0" defTabSz="9144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</a:pP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8760" indent="0" defTabSz="9144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</a:pP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1040" indent="0" defTabSz="9144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</a:pP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5" name="Image 178"/>
          <p:cNvPicPr/>
          <p:nvPr/>
        </p:nvPicPr>
        <p:blipFill>
          <a:blip r:embed="rId3"/>
          <a:stretch/>
        </p:blipFill>
        <p:spPr>
          <a:xfrm>
            <a:off x="1260000" y="3672000"/>
            <a:ext cx="7195320" cy="1110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PlaceHolder 1"/>
          <p:cNvSpPr>
            <a:spLocks noGrp="1"/>
          </p:cNvSpPr>
          <p:nvPr>
            <p:ph type="title"/>
          </p:nvPr>
        </p:nvSpPr>
        <p:spPr>
          <a:xfrm>
            <a:off x="457200" y="114480"/>
            <a:ext cx="7470720" cy="1022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Flux de travail utilisé : Git-flow</a:t>
            </a:r>
            <a:endParaRPr lang="fr-F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7" name="Image 748"/>
          <p:cNvPicPr/>
          <p:nvPr/>
        </p:nvPicPr>
        <p:blipFill>
          <a:blip r:embed="rId2"/>
          <a:stretch/>
        </p:blipFill>
        <p:spPr>
          <a:xfrm>
            <a:off x="540000" y="1044000"/>
            <a:ext cx="5826960" cy="2707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PlaceHolder 1"/>
          <p:cNvSpPr>
            <a:spLocks noGrp="1"/>
          </p:cNvSpPr>
          <p:nvPr>
            <p:ph type="title"/>
          </p:nvPr>
        </p:nvSpPr>
        <p:spPr>
          <a:xfrm>
            <a:off x="180000" y="114480"/>
            <a:ext cx="8358120" cy="1022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70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Partie 2.1</a:t>
            </a:r>
            <a:r>
              <a:rPr lang="fr-FR" sz="2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- </a:t>
            </a:r>
            <a:r>
              <a:rPr lang="fr-FR" sz="270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Continuous INTEGRATION – </a:t>
            </a:r>
            <a:r>
              <a:rPr lang="fr-FR" sz="2700" b="0" u="none" strike="noStrike">
                <a:solidFill>
                  <a:srgbClr val="000000"/>
                </a:solidFill>
                <a:effectLst/>
                <a:uFillTx/>
                <a:latin typeface="Trebuchet MS"/>
                <a:ea typeface="DejaVu Sans"/>
              </a:rPr>
              <a:t>PROJET apps</a:t>
            </a:r>
            <a:endParaRPr lang="fr-F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PlaceHolder 2"/>
          <p:cNvSpPr>
            <a:spLocks noGrp="1"/>
          </p:cNvSpPr>
          <p:nvPr>
            <p:ph/>
          </p:nvPr>
        </p:nvSpPr>
        <p:spPr>
          <a:xfrm>
            <a:off x="196560" y="578880"/>
            <a:ext cx="8694360" cy="715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350" b="0" u="sng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Condition :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- Déclenchement du pipeline d’intégration « </a:t>
            </a:r>
            <a:r>
              <a:rPr lang="fr-FR" sz="2200" b="1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A </a:t>
            </a:r>
            <a:r>
              <a:rPr lang="fr-FR" sz="160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»</a:t>
            </a: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 </a:t>
            </a:r>
            <a:r>
              <a:rPr lang="fr-FR" sz="1350" b="1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uniquement</a:t>
            </a: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 lors d’un push d’une branche (quelqu'elle soit).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- Surtout n’oubliez pas le </a:t>
            </a:r>
            <a:r>
              <a:rPr lang="fr-FR" sz="1350" b="1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expire_in: 10 minutes</a:t>
            </a: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 pour les artefacts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283"/>
              </a:spcBef>
              <a:buNone/>
              <a:tabLst>
                <a:tab pos="0" algn="l"/>
              </a:tabLst>
            </a:pP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- Afin d’améliorer les temps de builds maven, voilà l’URL du nexus </a:t>
            </a:r>
            <a:r>
              <a:rPr lang="fr-FR" sz="1350" b="0" u="none" strike="noStrike">
                <a:solidFill>
                  <a:srgbClr val="3FCDE7"/>
                </a:solidFill>
                <a:effectLst/>
                <a:uFillTx/>
                <a:latin typeface="Trebuchet MS"/>
                <a:ea typeface="DejaVu Sans"/>
                <a:hlinkClick r:id="rId2"/>
              </a:rPr>
              <a:t>http://nexus.etu-k8s.lan/repository/maven-public/</a:t>
            </a: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 à mettre dans votre </a:t>
            </a:r>
            <a:r>
              <a:rPr lang="fr-FR" sz="1350" b="1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.settings-nexus-artois.xml </a:t>
            </a: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et de changer votre </a:t>
            </a:r>
            <a:r>
              <a:rPr lang="fr-FR" sz="1350" b="1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 MAVEN_CLI_OPTS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283"/>
              </a:spcBef>
              <a:buNone/>
              <a:tabLst>
                <a:tab pos="0" algn="l"/>
              </a:tabLst>
            </a:pP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</a:pP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indent="0" defTabSz="9144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</a:pP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60" name="Tableau 1"/>
          <p:cNvGraphicFramePr/>
          <p:nvPr/>
        </p:nvGraphicFramePr>
        <p:xfrm>
          <a:off x="175680" y="2308320"/>
          <a:ext cx="8762760" cy="2245320"/>
        </p:xfrm>
        <a:graphic>
          <a:graphicData uri="http://schemas.openxmlformats.org/drawingml/2006/table">
            <a:tbl>
              <a:tblPr/>
              <a:tblGrid>
                <a:gridCol w="1199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4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9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Stages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96D14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Jobs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96D14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Failure autorisée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96D14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Artefact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96D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960">
                <a:tc rowSpan="2"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BUILD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96D14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Build avec Java 21 (registry.etu-k8s.lan/docker-hub/maven:3.9.9-eclipse-temurin-21)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Non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Non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960">
                <a:tc vMerge="1">
                  <a:txBody>
                    <a:bodyPr/>
                    <a:lstStyle/>
                    <a:p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Build avec Java 11 (registry.etu-k8s.lan/docker-hub/maven:3.9.9-eclipse-temurin-11)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Noto Sans CJK SC"/>
                        </a:rPr>
                        <a:t>Oui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Non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TEST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96D14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Tests Unitaires avec la couverture de code associé (ex : Jacoco) : improvisez 5 tests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Non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Oui, durant 10 min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CODE-QUALITY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96D14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Tests Sonar (</a:t>
                      </a:r>
                      <a:r>
                        <a:rPr lang="fr-FR" sz="1050" b="0" u="sng" strike="noStrike">
                          <a:solidFill>
                            <a:srgbClr val="3FCDE7"/>
                          </a:solidFill>
                          <a:effectLst/>
                          <a:uFillTx/>
                          <a:latin typeface="Trebuchet MS"/>
                          <a:ea typeface="DejaVu Sans"/>
                          <a:hlinkClick r:id="rId3"/>
                        </a:rPr>
                        <a:t>http://sonarqube.univ-artois.fr</a:t>
                      </a: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 et n’oubliez pas de me donner les accès) 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Oui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Non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JAVADOC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96D14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Génération de la JavaDoc de l'application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Oui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Oui, durant 10 min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PlaceHolder 1"/>
          <p:cNvSpPr>
            <a:spLocks noGrp="1"/>
          </p:cNvSpPr>
          <p:nvPr>
            <p:ph type="title"/>
          </p:nvPr>
        </p:nvSpPr>
        <p:spPr>
          <a:xfrm>
            <a:off x="180000" y="114480"/>
            <a:ext cx="8358120" cy="1022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70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Partie 2.2</a:t>
            </a:r>
            <a:r>
              <a:rPr lang="fr-FR" sz="2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- </a:t>
            </a:r>
            <a:r>
              <a:rPr lang="fr-FR" sz="270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Continuous DEPLOYMENT – </a:t>
            </a:r>
            <a:r>
              <a:rPr lang="fr-FR" sz="2700" b="0" u="none" strike="noStrike">
                <a:solidFill>
                  <a:srgbClr val="000000"/>
                </a:solidFill>
                <a:effectLst/>
                <a:uFillTx/>
                <a:latin typeface="Trebuchet MS"/>
                <a:ea typeface="DejaVu Sans"/>
              </a:rPr>
              <a:t>PROJET apps</a:t>
            </a:r>
            <a:endParaRPr lang="fr-F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62" name="Tableau 3"/>
          <p:cNvGraphicFramePr/>
          <p:nvPr/>
        </p:nvGraphicFramePr>
        <p:xfrm>
          <a:off x="175680" y="1620000"/>
          <a:ext cx="8762760" cy="1199520"/>
        </p:xfrm>
        <a:graphic>
          <a:graphicData uri="http://schemas.openxmlformats.org/drawingml/2006/table">
            <a:tbl>
              <a:tblPr/>
              <a:tblGrid>
                <a:gridCol w="1199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4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9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Stages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96D14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Jobs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96D14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Failure autorisée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96D14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Artefact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96D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BUILD-ARTEFACT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96D14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Build avec Java 21 (registry.etu-k8s.lan/docker-hub/maven:3.9.9-eclipse-temurin-21)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Non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Oui, durant 10 min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TRIGGER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96D141"/>
                    </a:solidFill>
                  </a:tcPr>
                </a:tc>
                <a:tc gridSpan="3"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142"/>
                        </a:spcAft>
                        <a:tabLst>
                          <a:tab pos="0" algn="l"/>
                        </a:tabLst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Il déclenche le pipeline B (projet ops / diapo suivante)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63" name="PlaceHolder 6"/>
          <p:cNvSpPr/>
          <p:nvPr/>
        </p:nvSpPr>
        <p:spPr>
          <a:xfrm>
            <a:off x="180360" y="647640"/>
            <a:ext cx="8359920" cy="61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350" b="0" u="sng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Condition :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Déclenchement du pipeline de déploiement « </a:t>
            </a:r>
            <a:r>
              <a:rPr lang="fr-FR" sz="2200" b="1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A </a:t>
            </a:r>
            <a:r>
              <a:rPr lang="fr-FR" sz="160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» </a:t>
            </a:r>
            <a:r>
              <a:rPr lang="fr-FR" sz="1350" b="1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uniquement</a:t>
            </a: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 lors d’une demande de Merge Request de n’importe quelle branche vers </a:t>
            </a:r>
            <a:r>
              <a:rPr lang="fr-FR" sz="1350" b="0" u="none" strike="noStrike">
                <a:solidFill>
                  <a:srgbClr val="42D0A2"/>
                </a:solidFill>
                <a:effectLst/>
                <a:uFillTx/>
                <a:latin typeface="Consolas"/>
                <a:ea typeface="DejaVu Sans"/>
              </a:rPr>
              <a:t>develop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PlaceHolder 1"/>
          <p:cNvSpPr>
            <a:spLocks noGrp="1"/>
          </p:cNvSpPr>
          <p:nvPr>
            <p:ph type="title"/>
          </p:nvPr>
        </p:nvSpPr>
        <p:spPr>
          <a:xfrm>
            <a:off x="216000" y="52920"/>
            <a:ext cx="8457480" cy="1022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40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Partie 2.3 </a:t>
            </a: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</a:t>
            </a:r>
            <a:r>
              <a:rPr lang="fr-FR" sz="240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Continuous DEPLOYMENT – </a:t>
            </a: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Trebuchet MS"/>
                <a:ea typeface="DejaVu Sans"/>
              </a:rPr>
              <a:t>PROJET</a:t>
            </a:r>
            <a:r>
              <a:rPr lang="fr-FR" sz="240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 </a:t>
            </a: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Trebuchet MS"/>
                <a:ea typeface="DejaVu Sans"/>
              </a:rPr>
              <a:t>ops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PlaceHolder 2"/>
          <p:cNvSpPr>
            <a:spLocks noGrp="1"/>
          </p:cNvSpPr>
          <p:nvPr>
            <p:ph/>
          </p:nvPr>
        </p:nvSpPr>
        <p:spPr>
          <a:xfrm rot="6000">
            <a:off x="216000" y="429120"/>
            <a:ext cx="8169480" cy="1041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fr-FR" sz="1350" b="0" u="sng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Condition :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None/>
              <a:tabLst>
                <a:tab pos="0" algn="l"/>
              </a:tabLst>
            </a:pPr>
            <a:r>
              <a:rPr lang="fr-FR" sz="1300" b="0" u="none" strike="noStrike">
                <a:solidFill>
                  <a:srgbClr val="000000"/>
                </a:solidFill>
                <a:effectLst/>
                <a:uFillTx/>
                <a:latin typeface="Trebuchet MS"/>
                <a:ea typeface="DejaVu Sans"/>
              </a:rPr>
              <a:t>Déclenchement du pipeline de déploiement « </a:t>
            </a:r>
            <a:r>
              <a:rPr lang="fr-FR" sz="15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DejaVu Sans"/>
              </a:rPr>
              <a:t>B </a:t>
            </a:r>
            <a:r>
              <a:rPr lang="fr-FR" sz="1300" b="0" u="none" strike="noStrike">
                <a:solidFill>
                  <a:srgbClr val="000000"/>
                </a:solidFill>
                <a:effectLst/>
                <a:uFillTx/>
                <a:latin typeface="Trebuchet MS"/>
                <a:ea typeface="DejaVu Sans"/>
              </a:rPr>
              <a:t>» (projet </a:t>
            </a:r>
            <a:r>
              <a:rPr lang="fr-FR" sz="13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DejaVu Sans"/>
              </a:rPr>
              <a:t>ops</a:t>
            </a:r>
            <a:r>
              <a:rPr lang="fr-FR" sz="1300" b="0" u="none" strike="noStrike">
                <a:solidFill>
                  <a:srgbClr val="000000"/>
                </a:solidFill>
                <a:effectLst/>
                <a:uFillTx/>
                <a:latin typeface="Trebuchet MS"/>
                <a:ea typeface="DejaVu Sans"/>
              </a:rPr>
              <a:t>) :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None/>
              <a:tabLst>
                <a:tab pos="0" algn="l"/>
              </a:tabLst>
            </a:pPr>
            <a:r>
              <a:rPr lang="fr-FR" sz="1300" b="0" u="none" strike="noStrike">
                <a:solidFill>
                  <a:srgbClr val="000000"/>
                </a:solidFill>
                <a:effectLst/>
                <a:uFillTx/>
                <a:latin typeface="Trebuchet MS"/>
                <a:ea typeface="DejaVu Sans"/>
              </a:rPr>
              <a:t>Ce pipeline B, situé dans un autre dépôt Git, est déclenché via un trigger, il récupére l’artefact généré par le pipeline A (projet </a:t>
            </a:r>
            <a:r>
              <a:rPr lang="fr-FR" sz="13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DejaVu Sans"/>
              </a:rPr>
              <a:t>apps</a:t>
            </a:r>
            <a:r>
              <a:rPr lang="fr-FR" sz="1300" b="0" u="none" strike="noStrike">
                <a:solidFill>
                  <a:srgbClr val="000000"/>
                </a:solidFill>
                <a:effectLst/>
                <a:uFillTx/>
                <a:latin typeface="Trebuchet MS"/>
                <a:ea typeface="DejaVu Sans"/>
              </a:rPr>
              <a:t>), construire un conteneur à partir de celui-ci, puis pousse l’image résultante en tant qu’artefact (attention, les images étant assez lourde, n’oubliez pas le job « </a:t>
            </a:r>
            <a:r>
              <a:rPr lang="fr-FR" sz="13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DejaVu Sans"/>
              </a:rPr>
              <a:t>clean artefact »)</a:t>
            </a:r>
            <a:r>
              <a:rPr lang="fr-FR" sz="1300" b="0" u="none" strike="noStrike">
                <a:solidFill>
                  <a:srgbClr val="000000"/>
                </a:solidFill>
                <a:effectLst/>
                <a:uFillTx/>
                <a:latin typeface="Trebuchet MS"/>
                <a:ea typeface="DejaVu Sans"/>
              </a:rPr>
              <a:t>. 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</a:pP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66" name="Tableau 2"/>
          <p:cNvGraphicFramePr/>
          <p:nvPr/>
        </p:nvGraphicFramePr>
        <p:xfrm>
          <a:off x="216000" y="1699200"/>
          <a:ext cx="8747640" cy="3310560"/>
        </p:xfrm>
        <a:graphic>
          <a:graphicData uri="http://schemas.openxmlformats.org/drawingml/2006/table">
            <a:tbl>
              <a:tblPr/>
              <a:tblGrid>
                <a:gridCol w="1197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5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2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Stages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42D0A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Jobs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42D0A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Failure autorisée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42D0A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Artefact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42D0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3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BUILD CONTAINER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2D0A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Création d’un conteneur préconfiguré intégrant le JAR du projet apps, construit à partir de l’image de base registry.etu-k8s.lan/docker-hub/eclipse-temurin:21-jre dans le Dockerfile. Utiliser l’image Kaniko registry.etu-k8s.lan/m2ili/executor:v1.23.2-debug pour la construction, en spécifiant un expire_in de 10 minutes.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Non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Oui (image-container.tar)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8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TEST-TRIVY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2D0A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Scanner une image de conteneur </a:t>
                      </a: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(output/artefact en HTML).</a:t>
                      </a:r>
                      <a:br>
                        <a:rPr sz="1050"/>
                      </a:b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Image à utiliser : registry.etu-k8s.lan/docker-hub/aquasec/trivy:latest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Oui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Oui, durant 5min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CLEAN ARTEFACT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2D0A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Supprimer les artefacts du pipeline (voir diapo suivante...)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Non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Non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DEPLOIEMENT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STAGING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2D0A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Déploiement </a:t>
                      </a:r>
                      <a:r>
                        <a:rPr lang="fr-FR" sz="1050" b="1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automatique</a:t>
                      </a: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 : faire simplement un echo "Déploiement en staging" dans le conteneur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Non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Non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DEPLOIEMENT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PRODUCTION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2D0A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Déploiement </a:t>
                      </a:r>
                      <a:r>
                        <a:rPr lang="fr-FR" sz="1050" b="1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manuel</a:t>
                      </a: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 (au clic sur le job) : faire simplement un echo "Déploiement en production" dans le conteneur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Non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Non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RELEASE-TAG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(BONUS)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2D0A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Créer un tag avec la version issue du pom.xml et un changelog issu de votre fichier CHANGELOG-3.0.0 (apps), et uniquement lors du click sur le job déploiement en production (manuel)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Non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rebuchet MS"/>
                          <a:ea typeface="DejaVu Sans"/>
                        </a:rPr>
                        <a:t>Non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67" name="Explosion 2 1"/>
          <p:cNvSpPr/>
          <p:nvPr/>
        </p:nvSpPr>
        <p:spPr>
          <a:xfrm rot="1573800">
            <a:off x="7000920" y="4566240"/>
            <a:ext cx="1212480" cy="403200"/>
          </a:xfrm>
          <a:prstGeom prst="irregularSeal2">
            <a:avLst/>
          </a:prstGeom>
          <a:solidFill>
            <a:srgbClr val="C00000"/>
          </a:solidFill>
          <a:ln w="12600" cap="rnd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7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DejaVu Sans"/>
              </a:rPr>
              <a:t>BONUS</a:t>
            </a:r>
            <a:endParaRPr lang="fr-FR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PlaceHolder 1"/>
          <p:cNvSpPr>
            <a:spLocks noGrp="1"/>
          </p:cNvSpPr>
          <p:nvPr>
            <p:ph type="title"/>
          </p:nvPr>
        </p:nvSpPr>
        <p:spPr>
          <a:xfrm>
            <a:off x="216000" y="52920"/>
            <a:ext cx="8457480" cy="1022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40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Partie 2.2.1 </a:t>
            </a: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CLEAN ARTEFACT</a:t>
            </a:r>
            <a:r>
              <a:rPr lang="fr-FR" sz="240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 – </a:t>
            </a: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Trebuchet MS"/>
                <a:ea typeface="DejaVu Sans"/>
              </a:rPr>
              <a:t>PROJET</a:t>
            </a:r>
            <a:r>
              <a:rPr lang="fr-FR" sz="240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 </a:t>
            </a: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Trebuchet MS"/>
                <a:ea typeface="DejaVu Sans"/>
              </a:rPr>
              <a:t>ops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9" name="Image 757"/>
          <p:cNvPicPr/>
          <p:nvPr/>
        </p:nvPicPr>
        <p:blipFill>
          <a:blip r:embed="rId2"/>
          <a:stretch/>
        </p:blipFill>
        <p:spPr>
          <a:xfrm>
            <a:off x="205200" y="1512000"/>
            <a:ext cx="4581000" cy="108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0" name="Image 758"/>
          <p:cNvPicPr/>
          <p:nvPr/>
        </p:nvPicPr>
        <p:blipFill>
          <a:blip r:embed="rId3"/>
          <a:stretch/>
        </p:blipFill>
        <p:spPr>
          <a:xfrm>
            <a:off x="178200" y="2671200"/>
            <a:ext cx="5472000" cy="121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1" name="PlaceHolder 3"/>
          <p:cNvSpPr/>
          <p:nvPr/>
        </p:nvSpPr>
        <p:spPr>
          <a:xfrm>
            <a:off x="180000" y="540000"/>
            <a:ext cx="7613640" cy="112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84"/>
              </a:spcBef>
              <a:tabLst>
                <a:tab pos="0" algn="l"/>
              </a:tabLst>
            </a:pPr>
            <a:r>
              <a:rPr lang="fr-FR" sz="1350" b="0" u="sng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Condition :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84"/>
              </a:spcBef>
              <a:tabLst>
                <a:tab pos="0" algn="l"/>
              </a:tabLst>
            </a:pP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- Création d’un token d’accès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84"/>
              </a:spcBef>
              <a:tabLst>
                <a:tab pos="0" algn="l"/>
              </a:tabLst>
            </a:pP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- Création d’une variable sécurisée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50" b="0" u="none" strike="noStrike">
                <a:solidFill>
                  <a:srgbClr val="404040"/>
                </a:solidFill>
                <a:effectLst/>
                <a:uFillTx/>
                <a:latin typeface="Trebuchet MS"/>
                <a:ea typeface="DejaVu Sans"/>
              </a:rPr>
              <a:t>- Inclure le component : </a:t>
            </a:r>
            <a:r>
              <a:rPr lang="fr-FR" sz="900" b="0" u="none" strike="noStrike">
                <a:solidFill>
                  <a:srgbClr val="404040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cleanup-artifacts@0.0.2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51"/>
              </a:spcBef>
              <a:tabLst>
                <a:tab pos="0" algn="l"/>
              </a:tabLst>
            </a:pPr>
            <a:br>
              <a:rPr sz="1350"/>
            </a:br>
            <a:br>
              <a:rPr sz="1350"/>
            </a:b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100000"/>
              </a:lnSpc>
              <a:spcBef>
                <a:spcPts val="751"/>
              </a:spcBef>
              <a:tabLst>
                <a:tab pos="0" algn="l"/>
              </a:tabLst>
            </a:pP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Rectangle 760"/>
          <p:cNvSpPr/>
          <p:nvPr/>
        </p:nvSpPr>
        <p:spPr>
          <a:xfrm>
            <a:off x="180000" y="3924000"/>
            <a:ext cx="8278200" cy="90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600" b="0" u="none" strike="noStrike">
                <a:solidFill>
                  <a:srgbClr val="000000"/>
                </a:solidFill>
                <a:effectLst/>
                <a:uFillTx/>
                <a:latin typeface="Liberation Mono;Courier New;DejaVu Sans Mono"/>
                <a:ea typeface="DejaVu Sans"/>
              </a:rPr>
              <a:t>.rules-pipeline: &amp;rules-pipeline</a:t>
            </a:r>
            <a:endParaRPr lang="fr-FR" sz="6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  <a:ea typeface="Liberation Mono;Courier New;DejaVu Sans Mono"/>
            </a:endParaRPr>
          </a:p>
          <a:p>
            <a:pPr defTabSz="914400">
              <a:lnSpc>
                <a:spcPct val="100000"/>
              </a:lnSpc>
            </a:pPr>
            <a:r>
              <a:rPr lang="fr-FR" sz="600" b="0" u="none" strike="noStrike">
                <a:solidFill>
                  <a:srgbClr val="000000"/>
                </a:solidFill>
                <a:effectLst/>
                <a:uFillTx/>
                <a:latin typeface="Liberation Mono;Courier New;DejaVu Sans Mono"/>
                <a:ea typeface="DejaVu Sans"/>
              </a:rPr>
              <a:t>  - if: '$CI_PIPELINE_SOURCE == "pipeline"'</a:t>
            </a:r>
            <a:endParaRPr lang="fr-FR" sz="6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  <a:ea typeface="Liberation Mono;Courier New;DejaVu Sans Mono"/>
            </a:endParaRPr>
          </a:p>
          <a:p>
            <a:pPr defTabSz="914400">
              <a:lnSpc>
                <a:spcPct val="100000"/>
              </a:lnSpc>
            </a:pPr>
            <a:endParaRPr lang="fr-FR" sz="6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  <a:ea typeface="Liberation Mono;Courier New;DejaVu Sans Mono"/>
            </a:endParaRPr>
          </a:p>
          <a:p>
            <a:pPr defTabSz="914400">
              <a:lnSpc>
                <a:spcPct val="100000"/>
              </a:lnSpc>
            </a:pPr>
            <a:r>
              <a:rPr lang="fr-FR" sz="600" b="0" u="none" strike="noStrike">
                <a:solidFill>
                  <a:srgbClr val="000000"/>
                </a:solidFill>
                <a:effectLst/>
                <a:uFillTx/>
                <a:latin typeface="Liberation Mono;Courier New;DejaVu Sans Mono"/>
                <a:ea typeface="DejaVu Sans"/>
              </a:rPr>
              <a:t>include:</a:t>
            </a:r>
            <a:endParaRPr lang="fr-FR" sz="6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  <a:ea typeface="Liberation Mono;Courier New;DejaVu Sans Mono"/>
            </a:endParaRPr>
          </a:p>
          <a:p>
            <a:pPr defTabSz="914400">
              <a:lnSpc>
                <a:spcPct val="100000"/>
              </a:lnSpc>
            </a:pPr>
            <a:r>
              <a:rPr lang="fr-FR" sz="600" b="0" u="none" strike="noStrike">
                <a:solidFill>
                  <a:srgbClr val="000000"/>
                </a:solidFill>
                <a:effectLst/>
                <a:uFillTx/>
                <a:latin typeface="Liberation Mono;Courier New;DejaVu Sans Mono"/>
                <a:ea typeface="DejaVu Sans"/>
              </a:rPr>
              <a:t>  - component: $CI_SERVER_FQDN/fak/m2-ili/promo-2025-2026/ci-component/cleanup-artifacts/cleanup-artifacts@0.0.2</a:t>
            </a:r>
            <a:endParaRPr lang="fr-FR" sz="6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  <a:ea typeface="Liberation Mono;Courier New;DejaVu Sans Mono"/>
            </a:endParaRPr>
          </a:p>
          <a:p>
            <a:pPr defTabSz="914400">
              <a:lnSpc>
                <a:spcPct val="100000"/>
              </a:lnSpc>
            </a:pPr>
            <a:r>
              <a:rPr lang="fr-FR" sz="600" b="0" u="none" strike="noStrike">
                <a:solidFill>
                  <a:srgbClr val="000000"/>
                </a:solidFill>
                <a:effectLst/>
                <a:uFillTx/>
                <a:latin typeface="Liberation Mono;Courier New;DejaVu Sans Mono"/>
                <a:ea typeface="DejaVu Sans"/>
              </a:rPr>
              <a:t>    inputs:</a:t>
            </a:r>
            <a:endParaRPr lang="fr-FR" sz="6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  <a:ea typeface="Liberation Mono;Courier New;DejaVu Sans Mono"/>
            </a:endParaRPr>
          </a:p>
          <a:p>
            <a:pPr defTabSz="914400">
              <a:lnSpc>
                <a:spcPct val="100000"/>
              </a:lnSpc>
            </a:pPr>
            <a:r>
              <a:rPr lang="fr-FR" sz="600" b="0" u="none" strike="noStrike">
                <a:solidFill>
                  <a:srgbClr val="000000"/>
                </a:solidFill>
                <a:effectLst/>
                <a:uFillTx/>
                <a:latin typeface="Liberation Mono;Courier New;DejaVu Sans Mono"/>
                <a:ea typeface="DejaVu Sans"/>
              </a:rPr>
              <a:t>      rules:</a:t>
            </a:r>
            <a:endParaRPr lang="fr-FR" sz="6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  <a:ea typeface="Liberation Mono;Courier New;DejaVu Sans Mono"/>
            </a:endParaRPr>
          </a:p>
          <a:p>
            <a:pPr defTabSz="914400">
              <a:lnSpc>
                <a:spcPct val="100000"/>
              </a:lnSpc>
            </a:pPr>
            <a:r>
              <a:rPr lang="fr-FR" sz="600" b="0" u="none" strike="noStrike">
                <a:solidFill>
                  <a:srgbClr val="000000"/>
                </a:solidFill>
                <a:effectLst/>
                <a:uFillTx/>
                <a:latin typeface="Liberation Mono;Courier New;DejaVu Sans Mono"/>
                <a:ea typeface="DejaVu Sans"/>
              </a:rPr>
              <a:t>        *rules-pipeline</a:t>
            </a:r>
            <a:endParaRPr lang="fr-FR" sz="6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  <a:ea typeface="Liberation Mono;Courier New;DejaVu Sans Mono"/>
            </a:endParaRPr>
          </a:p>
          <a:p>
            <a:pPr defTabSz="914400">
              <a:lnSpc>
                <a:spcPct val="100000"/>
              </a:lnSpc>
            </a:pPr>
            <a:r>
              <a:rPr lang="fr-FR" sz="600" b="0" u="none" strike="noStrike">
                <a:solidFill>
                  <a:srgbClr val="000000"/>
                </a:solidFill>
                <a:effectLst/>
                <a:uFillTx/>
                <a:latin typeface="Liberation Mono;Courier New;DejaVu Sans Mono"/>
                <a:ea typeface="DejaVu Sans"/>
              </a:rPr>
              <a:t>      cleanup_token: $CLEANUP_TOKEN</a:t>
            </a:r>
            <a:endParaRPr lang="fr-FR" sz="6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  <a:ea typeface="Liberation Mono;Courier New;DejaVu Sans Mon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Titre 3"/>
          <p:cNvSpPr/>
          <p:nvPr/>
        </p:nvSpPr>
        <p:spPr>
          <a:xfrm>
            <a:off x="685800" y="1340640"/>
            <a:ext cx="7765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45000" anchor="t">
            <a:norm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800" b="1" u="none" strike="noStrike" cap="all" spc="-60">
                <a:solidFill>
                  <a:srgbClr val="000000"/>
                </a:solidFill>
                <a:effectLst/>
                <a:uFillTx/>
                <a:latin typeface="Trebuchet MS"/>
                <a:ea typeface="DejaVu Sans"/>
              </a:rPr>
              <a:t>Vos contacts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Picture 2"/>
          <p:cNvSpPr/>
          <p:nvPr/>
        </p:nvSpPr>
        <p:spPr>
          <a:xfrm>
            <a:off x="1035720" y="1849320"/>
            <a:ext cx="1660320" cy="166140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63360" cap="rnd">
            <a:solidFill>
              <a:srgbClr val="333333"/>
            </a:solidFill>
            <a:round/>
          </a:ln>
          <a:effectLst>
            <a:outerShdw blurRad="380880" dist="291960" dir="5400000" rotWithShape="0">
              <a:srgbClr val="000000">
                <a:alpha val="2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75" name="Picture 6"/>
          <p:cNvSpPr/>
          <p:nvPr/>
        </p:nvSpPr>
        <p:spPr>
          <a:xfrm>
            <a:off x="3737520" y="1849320"/>
            <a:ext cx="1661400" cy="1661400"/>
          </a:xfrm>
          <a:prstGeom prst="ellipse">
            <a:avLst/>
          </a:prstGeom>
          <a:blipFill rotWithShape="0">
            <a:blip r:embed="rId3"/>
            <a:srcRect/>
            <a:stretch/>
          </a:blipFill>
          <a:ln w="63360" cap="rnd">
            <a:solidFill>
              <a:srgbClr val="333333"/>
            </a:solidFill>
            <a:round/>
          </a:ln>
          <a:effectLst>
            <a:outerShdw blurRad="380880" dist="291960" dir="5400000" rotWithShape="0">
              <a:srgbClr val="000000">
                <a:alpha val="2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76" name="Titre 3"/>
          <p:cNvSpPr/>
          <p:nvPr/>
        </p:nvSpPr>
        <p:spPr>
          <a:xfrm>
            <a:off x="935640" y="3636000"/>
            <a:ext cx="18604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45000" anchor="t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800" b="1" u="none" strike="noStrike" cap="all" spc="-60">
                <a:solidFill>
                  <a:srgbClr val="000000"/>
                </a:solidFill>
                <a:effectLst/>
                <a:uFillTx/>
                <a:latin typeface="Trebuchet MS"/>
                <a:ea typeface="DejaVu Sans"/>
              </a:rPr>
              <a:t>Daniel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fr-FR" sz="1800" b="1" u="none" strike="noStrike" cap="all" spc="-60">
                <a:solidFill>
                  <a:srgbClr val="000000"/>
                </a:solidFill>
                <a:effectLst/>
                <a:uFillTx/>
                <a:latin typeface="Trebuchet MS"/>
                <a:ea typeface="DejaVu Sans"/>
              </a:rPr>
              <a:t>Le Berre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Titre 3"/>
          <p:cNvSpPr/>
          <p:nvPr/>
        </p:nvSpPr>
        <p:spPr>
          <a:xfrm>
            <a:off x="6341400" y="3636000"/>
            <a:ext cx="18604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45000" anchor="t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800" b="1" u="none" strike="noStrike" cap="all" spc="-60">
                <a:solidFill>
                  <a:srgbClr val="000000"/>
                </a:solidFill>
                <a:effectLst/>
                <a:uFillTx/>
                <a:latin typeface="Trebuchet MS"/>
                <a:ea typeface="DejaVu Sans"/>
              </a:rPr>
              <a:t>Bruno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fr-FR" sz="1800" b="1" u="none" strike="noStrike" cap="all" spc="-60">
                <a:solidFill>
                  <a:srgbClr val="000000"/>
                </a:solidFill>
                <a:effectLst/>
                <a:uFillTx/>
                <a:latin typeface="Trebuchet MS"/>
                <a:ea typeface="DejaVu Sans"/>
              </a:rPr>
              <a:t>verachten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Titre 3"/>
          <p:cNvSpPr/>
          <p:nvPr/>
        </p:nvSpPr>
        <p:spPr>
          <a:xfrm>
            <a:off x="3638520" y="3636000"/>
            <a:ext cx="18604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45000" anchor="t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800" b="1" u="none" strike="noStrike" cap="all" spc="-60">
                <a:solidFill>
                  <a:srgbClr val="000000"/>
                </a:solidFill>
                <a:effectLst/>
                <a:uFillTx/>
                <a:latin typeface="Trebuchet MS"/>
                <a:ea typeface="DejaVu Sans"/>
              </a:rPr>
              <a:t>FARID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fr-FR" sz="1800" b="1" u="none" strike="noStrike" cap="all" spc="-60">
                <a:solidFill>
                  <a:srgbClr val="000000"/>
                </a:solidFill>
                <a:effectLst/>
                <a:uFillTx/>
                <a:latin typeface="Trebuchet MS"/>
                <a:ea typeface="DejaVu Sans"/>
              </a:rPr>
              <a:t>AIT-KAra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9" name="Image 201"/>
          <p:cNvPicPr/>
          <p:nvPr/>
        </p:nvPicPr>
        <p:blipFill>
          <a:blip r:embed="rId4"/>
          <a:stretch/>
        </p:blipFill>
        <p:spPr>
          <a:xfrm>
            <a:off x="6480000" y="1980000"/>
            <a:ext cx="1408320" cy="1408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6592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45000" anchor="t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700" b="0" u="none" strike="noStrike">
                <a:solidFill>
                  <a:srgbClr val="5FCBEF"/>
                </a:solidFill>
                <a:effectLst/>
                <a:uFillTx/>
                <a:latin typeface="Trebuchet MS"/>
                <a:ea typeface="DejaVu Sans"/>
              </a:rPr>
              <a:t>Bon courage !</a:t>
            </a:r>
            <a:endParaRPr lang="fr-F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PlaceHolder 2"/>
          <p:cNvSpPr>
            <a:spLocks noGrp="1"/>
          </p:cNvSpPr>
          <p:nvPr>
            <p:ph type="subTitle"/>
          </p:nvPr>
        </p:nvSpPr>
        <p:spPr>
          <a:xfrm>
            <a:off x="685800" y="2914560"/>
            <a:ext cx="7767000" cy="13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8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1190</TotalTime>
  <Words>1745</Words>
  <Application>Microsoft Office PowerPoint</Application>
  <PresentationFormat>On-screen Show (16:9)</PresentationFormat>
  <Paragraphs>271</Paragraphs>
  <Slides>29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37</vt:i4>
      </vt:variant>
      <vt:variant>
        <vt:lpstr>Slide Titles</vt:lpstr>
      </vt:variant>
      <vt:variant>
        <vt:i4>29</vt:i4>
      </vt:variant>
    </vt:vector>
  </HeadingPairs>
  <TitlesOfParts>
    <vt:vector size="75" baseType="lpstr">
      <vt:lpstr>Arial</vt:lpstr>
      <vt:lpstr>Consolas</vt:lpstr>
      <vt:lpstr>Liberation Mono;Courier New;DejaVu Sans Mono</vt:lpstr>
      <vt:lpstr>OpenSymbol</vt:lpstr>
      <vt:lpstr>Symbol</vt:lpstr>
      <vt:lpstr>Times New Roman</vt:lpstr>
      <vt:lpstr>Trebuchet MS</vt:lpstr>
      <vt:lpstr>Wingdings</vt:lpstr>
      <vt:lpstr>Wingdings 3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DEVOPS  M2 ILI</vt:lpstr>
      <vt:lpstr>Modalités générales</vt:lpstr>
      <vt:lpstr>TECHNOLOGIES IMPOSÉES </vt:lpstr>
      <vt:lpstr>Date BUTOIR</vt:lpstr>
      <vt:lpstr>Partie 1 (10 points)</vt:lpstr>
      <vt:lpstr>Partie 1 (10 points)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Partie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Partie 1                          Communication</vt:lpstr>
      <vt:lpstr>Partie 2 (10 points)</vt:lpstr>
      <vt:lpstr>Flux de travail utilisé : Git-flow</vt:lpstr>
      <vt:lpstr>Partie 2.1 - Continuous INTEGRATION – PROJET apps</vt:lpstr>
      <vt:lpstr>Partie 2.2 - Continuous DEPLOYMENT – PROJET apps</vt:lpstr>
      <vt:lpstr>Partie 2.3 - Continuous DEPLOYMENT – PROJET ops</vt:lpstr>
      <vt:lpstr>Partie 2.2.1 - CLEAN ARTEFACT – PROJET ops</vt:lpstr>
      <vt:lpstr>PowerPoint Presentation</vt:lpstr>
      <vt:lpstr>Bon courage !</vt:lpstr>
    </vt:vector>
  </TitlesOfParts>
  <Company>Atos Worldline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 M2 ILI</dc:title>
  <dc:subject/>
  <dc:creator>Willemant Amaury</dc:creator>
  <dc:description>Template version 2.5b - 8 May 2020</dc:description>
  <cp:lastModifiedBy>Bruno Verachten</cp:lastModifiedBy>
  <cp:revision>134</cp:revision>
  <dcterms:created xsi:type="dcterms:W3CDTF">2020-12-12T10:02:52Z</dcterms:created>
  <dcterms:modified xsi:type="dcterms:W3CDTF">2025-12-11T13:22:40Z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Affichage à l'écran (16:9)</vt:lpwstr>
  </property>
  <property fmtid="{D5CDD505-2E9C-101B-9397-08002B2CF9AE}" pid="4" name="Slides">
    <vt:r8>18</vt:r8>
  </property>
</Properties>
</file>